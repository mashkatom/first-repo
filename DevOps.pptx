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57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6" r:id="rId16"/>
    <p:sldId id="274" r:id="rId17"/>
    <p:sldId id="262" r:id="rId18"/>
  </p:sldIdLst>
  <p:sldSz cx="12954000" cy="6832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SzPct val="100000"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 panose="020B0604020202020204" pitchFamily="34" charset="0"/>
        <a:ea typeface="Arial" panose="020B0604020202020204" pitchFamily="34" charset="0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0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ACC"/>
          </a:solidFill>
        </a:fill>
      </a:tcStyle>
    </a:wholeTbl>
    <a:band2H>
      <a:tcTxStyle/>
      <a:tcStyle>
        <a:tcBdr/>
        <a:fill>
          <a:solidFill>
            <a:srgbClr val="F0E6E7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9DEE9"/>
          </a:solidFill>
        </a:fill>
      </a:tcStyle>
    </a:wholeTbl>
    <a:band2H>
      <a:tcTxStyle/>
      <a:tcStyle>
        <a:tcBdr/>
        <a:fill>
          <a:solidFill>
            <a:srgbClr val="EDEFF4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E0E2"/>
          </a:solidFill>
        </a:fill>
      </a:tcStyle>
    </a:wholeTbl>
    <a:band2H>
      <a:tcTxStyle/>
      <a:tcStyle>
        <a:tcBdr/>
        <a:fill>
          <a:solidFill>
            <a:srgbClr val="E6F0F1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84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 noEditPoints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43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78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630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4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192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964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957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07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3002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31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9489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548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535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565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177800" y="685800"/>
            <a:ext cx="65024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25" name="TextBox 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26" name="Straight Connector 11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36" name="TextBox 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37" name="Straight Connector 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1620044" y="1119505"/>
            <a:ext cx="9720264" cy="2381521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39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1620044" y="3592865"/>
            <a:ext cx="9720264" cy="16515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 b="1"/>
            </a:lvl1pPr>
            <a:lvl2pPr indent="456056">
              <a:defRPr sz="2400" b="1"/>
            </a:lvl2pPr>
            <a:lvl3pPr indent="912113">
              <a:defRPr sz="2400" b="1"/>
            </a:lvl3pPr>
            <a:lvl4pPr indent="1368171">
              <a:defRPr sz="2400" b="1"/>
            </a:lvl4pPr>
            <a:lvl5pPr indent="1824227">
              <a:defRPr sz="2400" b="1"/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0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49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50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900000" y="919196"/>
            <a:ext cx="8649708" cy="53514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52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chemeClr val="accent1"/>
                </a:solidFill>
              </a:defRPr>
            </a:lvl1pPr>
            <a:lvl2pPr indent="456056">
              <a:defRPr sz="3600" b="1">
                <a:solidFill>
                  <a:schemeClr val="accent1"/>
                </a:solidFill>
              </a:defRPr>
            </a:lvl2pPr>
            <a:lvl3pPr indent="912113">
              <a:defRPr sz="3600" b="1">
                <a:solidFill>
                  <a:schemeClr val="accent1"/>
                </a:solidFill>
              </a:defRPr>
            </a:lvl3pPr>
            <a:lvl4pPr indent="1368171">
              <a:defRPr sz="3600" b="1">
                <a:solidFill>
                  <a:schemeClr val="accent1"/>
                </a:solidFill>
              </a:defRPr>
            </a:lvl4pPr>
            <a:lvl5pPr indent="1824227">
              <a:defRPr sz="3600" b="1">
                <a:solidFill>
                  <a:schemeClr val="accent1"/>
                </a:solidFill>
              </a:defRPr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53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4" name="Text Placeholder 3"/>
          <p:cNvSpPr>
            <a:spLocks noGrp="1" noEditPoints="1"/>
          </p:cNvSpPr>
          <p:nvPr>
            <p:ph type="body" sz="quarter" idx="2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0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>
            <a:solidFill>
              <a:srgbClr val="770127"/>
            </a:solidFill>
            <a:miter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2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 b="1">
                <a:solidFill>
                  <a:srgbClr val="FFFFFF"/>
                </a:solidFill>
              </a:defRPr>
            </a:lvl1pPr>
            <a:lvl2pPr indent="456056">
              <a:defRPr sz="3600" b="1">
                <a:solidFill>
                  <a:srgbClr val="FFFFFF"/>
                </a:solidFill>
              </a:defRPr>
            </a:lvl2pPr>
            <a:lvl3pPr indent="912113">
              <a:defRPr sz="3600" b="1">
                <a:solidFill>
                  <a:srgbClr val="FFFFFF"/>
                </a:solidFill>
              </a:defRPr>
            </a:lvl3pPr>
            <a:lvl4pPr indent="1368171">
              <a:defRPr sz="3600" b="1">
                <a:solidFill>
                  <a:srgbClr val="FFFFFF"/>
                </a:solidFill>
              </a:defRPr>
            </a:lvl4pPr>
            <a:lvl5pPr indent="1824227">
              <a:defRPr sz="3600" b="1">
                <a:solidFill>
                  <a:srgbClr val="FFFFFF"/>
                </a:solidFill>
              </a:defRPr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6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64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E003E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65" name="Picture 16" descr="Picture 16"/>
          <p:cNvPicPr>
            <a:picLocks noChangeAspect="1"/>
          </p:cNvPicPr>
          <p:nvPr/>
        </p:nvPicPr>
        <p:blipFill>
          <a:blip r:embed="rId2"/>
          <a:srcRect t="4828"/>
          <a:stretch/>
        </p:blipFill>
        <p:spPr>
          <a:xfrm>
            <a:off x="10684389" y="-1"/>
            <a:ext cx="1950722" cy="97615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Box 1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t>2024</a:t>
            </a:r>
          </a:p>
        </p:txBody>
      </p:sp>
      <p:sp>
        <p:nvSpPr>
          <p:cNvPr id="67" name="Straight Connector 18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76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77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900000" y="900000"/>
            <a:ext cx="9576680" cy="7143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Образец заголовка</a:t>
            </a:r>
          </a:p>
        </p:txBody>
      </p:sp>
      <p:sp>
        <p:nvSpPr>
          <p:cNvPr id="79" name="Уровень текста 1…"/>
          <p:cNvSpPr>
            <a:spLocks noGrp="1" noEditPoints="1"/>
          </p:cNvSpPr>
          <p:nvPr>
            <p:ph type="body" idx="1"/>
          </p:nvPr>
        </p:nvSpPr>
        <p:spPr>
          <a:xfrm>
            <a:off x="891024" y="1820976"/>
            <a:ext cx="11205727" cy="434026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80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88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89" name="TextBox 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90" name="Straight Connector 10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900000" y="900000"/>
            <a:ext cx="9627700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92" name="Picture Placeholder 2"/>
          <p:cNvSpPr>
            <a:spLocks noGrp="1" noEditPoints="1"/>
          </p:cNvSpPr>
          <p:nvPr>
            <p:ph type="pic" sz="half" idx="21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  <p:sp>
        <p:nvSpPr>
          <p:cNvPr id="93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94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03" name="TextBox 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04" name="Straight Connector 12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900000" y="863999"/>
            <a:ext cx="9627700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06" name="Picture Placeholder 2"/>
          <p:cNvSpPr>
            <a:spLocks noGrp="1" noEditPoints="1"/>
          </p:cNvSpPr>
          <p:nvPr>
            <p:ph type="pic" sz="quarter" idx="21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  <p:sp>
        <p:nvSpPr>
          <p:cNvPr id="107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08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09" name="Picture Placeholder 2"/>
          <p:cNvSpPr>
            <a:spLocks noGrp="1" noEditPoints="1"/>
          </p:cNvSpPr>
          <p:nvPr>
            <p:ph type="pic" sz="quarter" idx="22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2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18" name="TextBox 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19" name="Straight Connector 14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892712" y="900000"/>
            <a:ext cx="9627701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21" name="Picture Placeholder 2"/>
          <p:cNvSpPr>
            <a:spLocks noGrp="1" noEditPoints="1"/>
          </p:cNvSpPr>
          <p:nvPr>
            <p:ph type="pic" sz="quarter" idx="21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  <p:sp>
        <p:nvSpPr>
          <p:cNvPr id="122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23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24" name="Picture Placeholder 2"/>
          <p:cNvSpPr>
            <a:spLocks noGrp="1" noEditPoints="1"/>
          </p:cNvSpPr>
          <p:nvPr>
            <p:ph type="pic" sz="quarter" idx="22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  <p:sp>
        <p:nvSpPr>
          <p:cNvPr id="125" name="Picture Placeholder 2"/>
          <p:cNvSpPr>
            <a:spLocks noGrp="1" noEditPoints="1"/>
          </p:cNvSpPr>
          <p:nvPr>
            <p:ph type="pic" sz="quarter" idx="23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3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34" name="TextBox 1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35" name="Straight Connector 1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892712" y="900000"/>
            <a:ext cx="9627701" cy="7405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100"/>
            </a:lvl1pPr>
          </a:lstStyle>
          <a:p>
            <a:r>
              <a:t>Образец заголовка</a:t>
            </a:r>
          </a:p>
        </p:txBody>
      </p:sp>
      <p:sp>
        <p:nvSpPr>
          <p:cNvPr id="137" name="Picture Placeholder 2"/>
          <p:cNvSpPr>
            <a:spLocks noGrp="1" noEditPoints="1"/>
          </p:cNvSpPr>
          <p:nvPr>
            <p:ph type="pic" sz="quarter" idx="21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  <p:sp>
        <p:nvSpPr>
          <p:cNvPr id="138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/>
            </a:lvl1pPr>
            <a:lvl2pPr indent="456056">
              <a:defRPr sz="1500"/>
            </a:lvl2pPr>
            <a:lvl3pPr indent="912113">
              <a:defRPr sz="1500"/>
            </a:lvl3pPr>
            <a:lvl4pPr indent="1368171">
              <a:defRPr sz="1500"/>
            </a:lvl4pPr>
            <a:lvl5pPr indent="1824227">
              <a:defRPr sz="1500"/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39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0" name="Picture Placeholder 2"/>
          <p:cNvSpPr>
            <a:spLocks noGrp="1" noEditPoints="1"/>
          </p:cNvSpPr>
          <p:nvPr>
            <p:ph type="pic" sz="quarter" idx="22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  <p:sp>
        <p:nvSpPr>
          <p:cNvPr id="141" name="Picture Placeholder 2"/>
          <p:cNvSpPr>
            <a:spLocks noGrp="1" noEditPoints="1"/>
          </p:cNvSpPr>
          <p:nvPr>
            <p:ph type="pic" sz="quarter" idx="23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  <p:sp>
        <p:nvSpPr>
          <p:cNvPr id="142" name="Picture Placeholder 2"/>
          <p:cNvSpPr>
            <a:spLocks noGrp="1" noEditPoints="1"/>
          </p:cNvSpPr>
          <p:nvPr>
            <p:ph type="pic" sz="quarter" idx="24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  <p:sp>
        <p:nvSpPr>
          <p:cNvPr id="143" name="Picture Placeholder 2"/>
          <p:cNvSpPr>
            <a:spLocks noGrp="1" noEditPoints="1"/>
          </p:cNvSpPr>
          <p:nvPr>
            <p:ph type="pic" sz="quarter" idx="25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  <p:sp>
        <p:nvSpPr>
          <p:cNvPr id="144" name="Picture Placeholder 2"/>
          <p:cNvSpPr>
            <a:spLocks noGrp="1" noEditPoints="1"/>
          </p:cNvSpPr>
          <p:nvPr>
            <p:ph type="pic" sz="quarter" idx="26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</p:spPr>
        <p:txBody>
          <a:bodyPr lIns="91439" tIns="45719" rIns="91439" bIns="45719"/>
          <a:lstStyle/>
          <a:p>
            <a:pPr lvl="0"/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52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53" name="TextBox 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54" name="Straight Connector 9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" name="Текст заголовка"/>
          <p:cNvSpPr>
            <a:spLocks noGrp="1" noEditPoints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5900"/>
            </a:lvl1pPr>
          </a:lstStyle>
          <a:p>
            <a:r>
              <a:t>Текст заголовка</a:t>
            </a:r>
          </a:p>
        </p:txBody>
      </p:sp>
      <p:sp>
        <p:nvSpPr>
          <p:cNvPr id="156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888888"/>
                </a:solidFill>
              </a:defRPr>
            </a:lvl1pPr>
            <a:lvl2pPr indent="456056">
              <a:defRPr sz="2300">
                <a:solidFill>
                  <a:srgbClr val="888888"/>
                </a:solidFill>
              </a:defRPr>
            </a:lvl2pPr>
            <a:lvl3pPr indent="912113">
              <a:defRPr sz="2300">
                <a:solidFill>
                  <a:srgbClr val="888888"/>
                </a:solidFill>
              </a:defRPr>
            </a:lvl3pPr>
            <a:lvl4pPr indent="1368171">
              <a:defRPr sz="2300">
                <a:solidFill>
                  <a:srgbClr val="888888"/>
                </a:solidFill>
              </a:defRPr>
            </a:lvl4pPr>
            <a:lvl5pPr indent="1824227">
              <a:defRPr sz="2300">
                <a:solidFill>
                  <a:srgbClr val="888888"/>
                </a:solidFill>
              </a:defRPr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157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Рисунок 9" descr="Рисунок 9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165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166" name="TextBox 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67" name="Straight Connector 8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" name="Текст заголовка"/>
          <p:cNvSpPr>
            <a:spLocks noGrp="1" noEditPoints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Текст заголовка</a:t>
            </a:r>
          </a:p>
        </p:txBody>
      </p:sp>
      <p:sp>
        <p:nvSpPr>
          <p:cNvPr id="169" name="Номер слайда"/>
          <p:cNvSpPr>
            <a:spLocks noGrp="1" noEditPoints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3_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77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916863" y="3971147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178" name="Рисунок 21" descr="Рисунок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Рисунок 13" descr="Рисунок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2024</a:t>
            </a:r>
          </a:p>
        </p:txBody>
      </p:sp>
      <p:sp>
        <p:nvSpPr>
          <p:cNvPr id="181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183" name="Номер слайда"/>
          <p:cNvSpPr>
            <a:spLocks noGrp="1" noEditPoints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7_Титульный слайд">
    <p:bg>
      <p:bgPr>
        <a:solidFill>
          <a:srgbClr val="8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91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192" name="Рисунок 21" descr="Рисунок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93" name="Рисунок 13" descr="Рисунок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195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6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197" name="Номер слайда"/>
          <p:cNvSpPr>
            <a:spLocks noGrp="1" noEditPoints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8_Титульный слайд">
    <p:bg>
      <p:bgPr>
        <a:solidFill>
          <a:srgbClr val="A6A6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ОБРАЗЕЦ ЗАГОЛОВКА"/>
          <p:cNvSpPr>
            <a:spLocks noGrp="1" noEditPoints="1"/>
          </p:cNvSpPr>
          <p:nvPr>
            <p:ph type="title" hasCustomPrompt="1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900">
                <a:solidFill>
                  <a:srgbClr val="FFFFFF"/>
                </a:solidFill>
                <a:latin typeface="+mn-lt"/>
                <a:ea typeface="+mn-ea"/>
                <a:cs typeface="+mn-cs"/>
                <a:sym typeface="Times New Roman"/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205" name="Уровень текста 1…"/>
          <p:cNvSpPr>
            <a:spLocks noGrp="1" noEditPoints="1"/>
          </p:cNvSpPr>
          <p:nvPr>
            <p:ph type="body" sz="quarter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  <a:lvl2pPr indent="456056">
              <a:defRPr sz="2300">
                <a:solidFill>
                  <a:srgbClr val="FFFFFF"/>
                </a:solidFill>
              </a:defRPr>
            </a:lvl2pPr>
            <a:lvl3pPr indent="912113">
              <a:defRPr sz="2300">
                <a:solidFill>
                  <a:srgbClr val="FFFFFF"/>
                </a:solidFill>
              </a:defRPr>
            </a:lvl3pPr>
            <a:lvl4pPr indent="1368171">
              <a:defRPr sz="2300">
                <a:solidFill>
                  <a:srgbClr val="FFFFFF"/>
                </a:solidFill>
              </a:defRPr>
            </a:lvl4pPr>
            <a:lvl5pPr indent="1824227">
              <a:defRPr sz="2300">
                <a:solidFill>
                  <a:srgbClr val="FFFFFF"/>
                </a:solidFill>
              </a:defRPr>
            </a:lvl5pPr>
          </a:lstStyle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pic>
        <p:nvPicPr>
          <p:cNvPr id="206" name="Рисунок 21" descr="Рисунок 2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770519" y="0"/>
            <a:ext cx="4189831" cy="6840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Рисунок 13" descr="Рисунок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3759" y="329337"/>
            <a:ext cx="1862897" cy="819676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Box 12"/>
          <p:cNvSpPr txBox="1"/>
          <p:nvPr/>
        </p:nvSpPr>
        <p:spPr>
          <a:xfrm rot="16200000">
            <a:off x="11737005" y="954870"/>
            <a:ext cx="690615" cy="25922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r">
              <a:defRPr>
                <a:solidFill>
                  <a:srgbClr val="FFFFFF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209" name="Straight Connector 14"/>
          <p:cNvSpPr/>
          <p:nvPr/>
        </p:nvSpPr>
        <p:spPr>
          <a:xfrm>
            <a:off x="12128268" y="1404850"/>
            <a:ext cx="1" cy="2302626"/>
          </a:xfrm>
          <a:prstGeom prst="line">
            <a:avLst/>
          </a:prstGeom>
          <a:ln w="25400">
            <a:solidFill>
              <a:srgbClr val="FFFFFF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" name="TextBox 15"/>
          <p:cNvSpPr txBox="1"/>
          <p:nvPr/>
        </p:nvSpPr>
        <p:spPr>
          <a:xfrm rot="16200000">
            <a:off x="11531872" y="5633390"/>
            <a:ext cx="1097103" cy="221953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600" spc="100">
                <a:solidFill>
                  <a:srgbClr val="FFFFFF"/>
                </a:solidFill>
              </a:defRPr>
            </a:lvl1pPr>
          </a:lstStyle>
          <a:p>
            <a:r>
              <a:t>РАНХиГС</a:t>
            </a:r>
          </a:p>
        </p:txBody>
      </p:sp>
      <p:sp>
        <p:nvSpPr>
          <p:cNvPr id="211" name="Номер слайда"/>
          <p:cNvSpPr>
            <a:spLocks noGrp="1" noEditPoints="1"/>
          </p:cNvSpPr>
          <p:nvPr>
            <p:ph type="sldNum" sz="quarter" idx="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Номер слайда"/>
          <p:cNvSpPr>
            <a:spLocks noGrp="1" noEditPoints="1"/>
          </p:cNvSpPr>
          <p:nvPr>
            <p:ph type="sldNum" sz="quarter" idx="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</p:spPr>
        <p:txBody>
          <a:bodyPr lIns="25305" tIns="25305" rIns="25305" bIns="25305" anchor="b"/>
          <a:lstStyle>
            <a:lvl1pPr algn="ctr" defTabSz="291018">
              <a:defRPr sz="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9" descr="Рисунок 9"/>
          <p:cNvPicPr>
            <a:picLocks noChangeAspect="1"/>
          </p:cNvPicPr>
          <p:nvPr/>
        </p:nvPicPr>
        <p:blipFill>
          <a:blip r:embed="rId18"/>
          <a:srcRect/>
          <a:stretch>
            <a:fillRect/>
          </a:stretch>
        </p:blipFill>
        <p:spPr>
          <a:xfrm>
            <a:off x="10856487" y="124476"/>
            <a:ext cx="1574790" cy="68718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Прямоугольник 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/>
            <a:endParaRPr/>
          </a:p>
        </p:txBody>
      </p:sp>
      <p:sp>
        <p:nvSpPr>
          <p:cNvPr id="4" name="TextBox 1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808080"/>
                </a:solidFill>
              </a:defRPr>
            </a:lvl1pPr>
          </a:lstStyle>
          <a:p>
            <a:r>
              <a:t>2023</a:t>
            </a:r>
          </a:p>
        </p:txBody>
      </p:sp>
      <p:sp>
        <p:nvSpPr>
          <p:cNvPr id="5" name="Straight Connector 16"/>
          <p:cNvSpPr/>
          <p:nvPr/>
        </p:nvSpPr>
        <p:spPr>
          <a:xfrm>
            <a:off x="1258528" y="6571636"/>
            <a:ext cx="2303435" cy="1"/>
          </a:xfrm>
          <a:prstGeom prst="line">
            <a:avLst/>
          </a:prstGeom>
          <a:ln w="19050">
            <a:solidFill>
              <a:srgbClr val="808080"/>
            </a:solidFill>
            <a:miter/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" name="Рисунок 7" descr="Рисунок 7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11902203" y="0"/>
            <a:ext cx="1058147" cy="6840539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Номер слайда"/>
          <p:cNvSpPr>
            <a:spLocks noGrp="1" noEditPoints="1"/>
          </p:cNvSpPr>
          <p:nvPr>
            <p:ph type="sldNum" sz="quarter" idx="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" name="Текст заголовка"/>
          <p:cNvSpPr>
            <a:spLocks noGrp="1" noEditPoints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r>
              <a:t>Текст заголовка</a:t>
            </a:r>
          </a:p>
        </p:txBody>
      </p:sp>
      <p:sp>
        <p:nvSpPr>
          <p:cNvPr id="9" name="Уровень текста 1…"/>
          <p:cNvSpPr>
            <a:spLocks noGrp="1" noEditPoints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/>
          <a:lstStyle/>
          <a:p>
            <a:pPr lvl="0"/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med"/>
  <p:hf hdr="0" ftr="0" dt="0"/>
  <p:txStyles>
    <p:titleStyle>
      <a:lvl1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SzPct val="100000"/>
        <a:buFontTx/>
        <a:buNone/>
        <a:defRPr sz="3200" b="1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SzPct val="100000"/>
        <a:buFontTx/>
        <a:buNone/>
        <a:defRPr sz="3200" b="1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SzPct val="100000"/>
        <a:buFontTx/>
        <a:buNone/>
        <a:defRPr sz="3200" b="1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SzPct val="100000"/>
        <a:buFontTx/>
        <a:buNone/>
        <a:defRPr sz="3200" b="1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SzPct val="100000"/>
        <a:buFontTx/>
        <a:buNone/>
        <a:defRPr sz="3200" b="1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SzPct val="100000"/>
        <a:buFontTx/>
        <a:buNone/>
        <a:defRPr sz="3200" b="1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SzPct val="100000"/>
        <a:buFontTx/>
        <a:buNone/>
        <a:defRPr sz="3200" b="1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SzPct val="100000"/>
        <a:buFontTx/>
        <a:buNone/>
        <a:defRPr sz="3200" b="1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0" marR="0" indent="0" algn="l" defTabSz="912113" rtl="0" latinLnBrk="0">
        <a:lnSpc>
          <a:spcPct val="90000"/>
        </a:lnSpc>
        <a:spcBef>
          <a:spcPts val="0"/>
        </a:spcBef>
        <a:spcAft>
          <a:spcPts val="0"/>
        </a:spcAft>
        <a:buSzPct val="100000"/>
        <a:buFontTx/>
        <a:buNone/>
        <a:defRPr sz="3200" b="1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lvl1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SzPct val="100000"/>
        <a:buFontTx/>
        <a:buNone/>
        <a:defRPr sz="1600" b="0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SzPct val="100000"/>
        <a:buFontTx/>
        <a:buNone/>
        <a:defRPr sz="1600" b="0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SzPct val="100000"/>
        <a:buFontTx/>
        <a:buNone/>
        <a:defRPr sz="1600" b="0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SzPct val="100000"/>
        <a:buFontTx/>
        <a:buNone/>
        <a:defRPr sz="1600" b="0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marL="0" marR="0" indent="0" algn="l" defTabSz="912113" rtl="0" latinLnBrk="0">
        <a:lnSpc>
          <a:spcPct val="100000"/>
        </a:lnSpc>
        <a:spcBef>
          <a:spcPts val="900"/>
        </a:spcBef>
        <a:spcAft>
          <a:spcPts val="0"/>
        </a:spcAft>
        <a:buSzPct val="100000"/>
        <a:buFontTx/>
        <a:buNone/>
        <a:defRPr sz="1600" b="0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2494900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SzPct val="100000"/>
        <a:buFontTx/>
        <a:buChar char="•"/>
        <a:defRPr sz="1600" b="0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2950957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SzPct val="100000"/>
        <a:buFontTx/>
        <a:buChar char="•"/>
        <a:defRPr sz="1600" b="0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3407014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SzPct val="100000"/>
        <a:buFontTx/>
        <a:buChar char="•"/>
        <a:defRPr sz="1600" b="0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3863071" marR="0" indent="-214615" algn="l" defTabSz="912113" rtl="0" latinLnBrk="0">
        <a:lnSpc>
          <a:spcPct val="100000"/>
        </a:lnSpc>
        <a:spcBef>
          <a:spcPts val="900"/>
        </a:spcBef>
        <a:spcAft>
          <a:spcPts val="0"/>
        </a:spcAft>
        <a:buSzPct val="100000"/>
        <a:buFontTx/>
        <a:buChar char="•"/>
        <a:defRPr sz="1600" b="0" i="0" u="none" strike="noStrike" cap="none" spc="0" baseline="0">
          <a:solidFill>
            <a:srgbClr val="000000"/>
          </a:solidFill>
          <a:uFillTx/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SzPct val="100000"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 pitchFamily="34" charset="0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SzPct val="100000"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 pitchFamily="34" charset="0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SzPct val="100000"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 pitchFamily="34" charset="0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SzPct val="100000"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 pitchFamily="34" charset="0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SzPct val="100000"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 pitchFamily="34" charset="0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SzPct val="100000"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 pitchFamily="34" charset="0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SzPct val="100000"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 pitchFamily="34" charset="0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SzPct val="100000"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 pitchFamily="34" charset="0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SzPct val="100000"/>
        <a:buFontTx/>
        <a:buNone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 pitchFamily="34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slide" Target="slide3.xml"/><Relationship Id="rId7" Type="http://schemas.openxmlformats.org/officeDocument/2006/relationships/slide" Target="slide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.xml"/><Relationship Id="rId5" Type="http://schemas.openxmlformats.org/officeDocument/2006/relationships/slide" Target="slide9.xml"/><Relationship Id="rId4" Type="http://schemas.openxmlformats.org/officeDocument/2006/relationships/slide" Target="slide4.xml"/><Relationship Id="rId9" Type="http://schemas.openxmlformats.org/officeDocument/2006/relationships/slide" Target="slide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habr.com/ru/companies/otus/articles/903352/" TargetMode="External"/><Relationship Id="rId13" Type="http://schemas.openxmlformats.org/officeDocument/2006/relationships/hyperlink" Target="https://www.cncf.co.kr/blog/ci-cd-tools-comparison/#toc" TargetMode="External"/><Relationship Id="rId3" Type="http://schemas.openxmlformats.org/officeDocument/2006/relationships/hyperlink" Target="https://it.vstu.by/courses/economics_of_electronic_business/web_technologies_and_programming/theory/DevOps/#&#1074;&#1074;&#1077;&#1076;&#1077;&#1085;&#1080;&#1077;" TargetMode="External"/><Relationship Id="rId7" Type="http://schemas.openxmlformats.org/officeDocument/2006/relationships/hyperlink" Target="https://cyberleninka.ru/article/n/avtomatizatsiya-i-optimizatsiya-protsessov-razrabotki-i-razvertyvaniya-v-devops-primenenie-sovremennyh-metodov-i-instrumentov" TargetMode="External"/><Relationship Id="rId12" Type="http://schemas.openxmlformats.org/officeDocument/2006/relationships/hyperlink" Target="https://habr.com/ru/companies/ruvds/articles/715536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lma365.com/ru/baza-znaniy/dev-ops/#processes" TargetMode="External"/><Relationship Id="rId11" Type="http://schemas.openxmlformats.org/officeDocument/2006/relationships/hyperlink" Target="https://translated.turbopages.org/proxy_u/en-ru.ru.2bd8c0d6-699e2fb8-578ad8b1-74722d776562/https/www.tutorialspoint.com/devops/devops-lean-principles.htm" TargetMode="External"/><Relationship Id="rId5" Type="http://schemas.openxmlformats.org/officeDocument/2006/relationships/hyperlink" Target="https://ones.com.cn/knowledge/devops-principles-methods-practices-10-steps-boost-team-efficiency" TargetMode="External"/><Relationship Id="rId10" Type="http://schemas.openxmlformats.org/officeDocument/2006/relationships/hyperlink" Target="https://journal.sweb.ru/article/cicd-klyuch-k-bystroy-i-stabilnoy-razrabotke" TargetMode="External"/><Relationship Id="rId4" Type="http://schemas.openxmlformats.org/officeDocument/2006/relationships/hyperlink" Target="https://vkcloud.kz/blog/chto-takoe-metodologiya-devops/" TargetMode="External"/><Relationship Id="rId9" Type="http://schemas.openxmlformats.org/officeDocument/2006/relationships/hyperlink" Target="https://checkmarx.com/learn/appsec/devops-metrics-2025-the-complete-guide-to-successfully-measuring-dev-operations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itle 1"/>
          <p:cNvSpPr>
            <a:spLocks noGrp="1" noEditPoints="1"/>
          </p:cNvSpPr>
          <p:nvPr>
            <p:ph type="title"/>
          </p:nvPr>
        </p:nvSpPr>
        <p:spPr>
          <a:xfrm>
            <a:off x="913800" y="1340402"/>
            <a:ext cx="10423444" cy="2723284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ru-RU" dirty="0" err="1"/>
              <a:t>DevOps</a:t>
            </a:r>
            <a:r>
              <a:rPr lang="ru-RU" dirty="0"/>
              <a:t>: интеграция разработки и эксплуатации</a:t>
            </a:r>
          </a:p>
        </p:txBody>
      </p:sp>
      <p:sp>
        <p:nvSpPr>
          <p:cNvPr id="228" name="Subtitle 2"/>
          <p:cNvSpPr>
            <a:spLocks noGrp="1" noEditPoints="1"/>
          </p:cNvSpPr>
          <p:nvPr>
            <p:ph type="body" sz="quarter" idx="1"/>
          </p:nvPr>
        </p:nvSpPr>
        <p:spPr>
          <a:xfrm>
            <a:off x="916862" y="4807537"/>
            <a:ext cx="10744195" cy="1047535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ru-RU" dirty="0"/>
              <a:t>Выполнили студенты Иб-321</a:t>
            </a:r>
          </a:p>
          <a:p>
            <a:pPr>
              <a:spcBef>
                <a:spcPts val="0"/>
              </a:spcBef>
            </a:pPr>
            <a:r>
              <a:rPr lang="ru-RU" dirty="0"/>
              <a:t>Тыртышник Яна</a:t>
            </a:r>
          </a:p>
          <a:p>
            <a:pPr>
              <a:spcBef>
                <a:spcPts val="0"/>
              </a:spcBef>
            </a:pPr>
            <a:r>
              <a:rPr lang="ru-RU" dirty="0"/>
              <a:t>Томилина Мария</a:t>
            </a:r>
          </a:p>
        </p:txBody>
      </p:sp>
      <p:sp>
        <p:nvSpPr>
          <p:cNvPr id="229" name="TextBox 3"/>
          <p:cNvSpPr txBox="1"/>
          <p:nvPr/>
        </p:nvSpPr>
        <p:spPr>
          <a:xfrm>
            <a:off x="913800" y="6125934"/>
            <a:ext cx="2146926" cy="210567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rPr dirty="0" err="1"/>
              <a:t>Нижний</a:t>
            </a:r>
            <a:r>
              <a:rPr dirty="0"/>
              <a:t> </a:t>
            </a:r>
            <a:r>
              <a:rPr dirty="0" err="1"/>
              <a:t>Новгород</a:t>
            </a:r>
            <a:r>
              <a:rPr dirty="0"/>
              <a:t>, 202</a:t>
            </a:r>
            <a:r>
              <a:rPr lang="ru-RU" dirty="0"/>
              <a:t>5</a:t>
            </a:r>
          </a:p>
        </p:txBody>
      </p:sp>
      <p:sp>
        <p:nvSpPr>
          <p:cNvPr id="230" name="Прямоугольник 229"/>
          <p:cNvSpPr/>
          <p:nvPr/>
        </p:nvSpPr>
        <p:spPr>
          <a:xfrm>
            <a:off x="11935857" y="703605"/>
            <a:ext cx="305178" cy="56797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52589"/>
            <a:ext cx="3017873" cy="597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1"/>
                </a:solidFill>
                <a:ea typeface="Arial Black" pitchFamily="34" charset="0"/>
              </a:rPr>
              <a:t>ОГЛАВЛЕНИЕ</a:t>
            </a:r>
            <a:endParaRPr lang="en-US" b="1" dirty="0">
              <a:solidFill>
                <a:schemeClr val="accent1"/>
              </a:solidFill>
              <a:ea typeface="Arial Black" pitchFamily="34" charset="0"/>
            </a:endParaRP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154142"/>
            <a:ext cx="11196602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tx1"/>
                </a:solidFill>
                <a:hlinkClick r:id="rId3" action="ppaction://hlinksldjump"/>
              </a:rPr>
              <a:t>Введение</a:t>
            </a:r>
            <a:endParaRPr lang="ru-RU" sz="2800" dirty="0">
              <a:solidFill>
                <a:schemeClr val="tx1"/>
              </a:solidFill>
            </a:endParaRPr>
          </a:p>
          <a:p>
            <a:r>
              <a:rPr lang="ru-RU" sz="2800" dirty="0">
                <a:solidFill>
                  <a:schemeClr val="tx1"/>
                </a:solidFill>
                <a:hlinkClick r:id="rId4" action="ppaction://hlinksldjump"/>
              </a:rPr>
              <a:t>Принципы </a:t>
            </a:r>
            <a:r>
              <a:rPr lang="ru-RU" sz="2800" dirty="0" err="1">
                <a:solidFill>
                  <a:schemeClr val="tx1"/>
                </a:solidFill>
                <a:hlinkClick r:id="rId4" action="ppaction://hlinksldjump"/>
              </a:rPr>
              <a:t>DevOps</a:t>
            </a:r>
            <a:r>
              <a:rPr lang="ru-RU" sz="2800" dirty="0">
                <a:solidFill>
                  <a:schemeClr val="tx1"/>
                </a:solidFill>
                <a:hlinkClick r:id="rId4" action="ppaction://hlinksldjump"/>
              </a:rPr>
              <a:t> и их реализация</a:t>
            </a:r>
            <a:endParaRPr lang="ru-RU" sz="2800" dirty="0">
              <a:solidFill>
                <a:schemeClr val="tx1"/>
              </a:solidFill>
            </a:endParaRPr>
          </a:p>
          <a:p>
            <a:r>
              <a:rPr lang="ru-RU" sz="2800" dirty="0">
                <a:solidFill>
                  <a:schemeClr val="tx1"/>
                </a:solidFill>
                <a:hlinkClick r:id="rId5" action="ppaction://hlinksldjump"/>
              </a:rPr>
              <a:t>CI/CD </a:t>
            </a:r>
            <a:r>
              <a:rPr lang="ru-RU" sz="2800" dirty="0" err="1">
                <a:solidFill>
                  <a:schemeClr val="tx1"/>
                </a:solidFill>
                <a:hlinkClick r:id="rId5" action="ppaction://hlinksldjump"/>
              </a:rPr>
              <a:t>пайплайны</a:t>
            </a:r>
            <a:r>
              <a:rPr lang="ru-RU" sz="2800" dirty="0">
                <a:solidFill>
                  <a:schemeClr val="tx1"/>
                </a:solidFill>
                <a:hlinkClick r:id="rId5" action="ppaction://hlinksldjump"/>
              </a:rPr>
              <a:t>: непрерывная интеграция и доставка</a:t>
            </a:r>
            <a:endParaRPr lang="ru-RU" sz="2800" dirty="0">
              <a:solidFill>
                <a:schemeClr val="tx1"/>
              </a:solidFill>
            </a:endParaRPr>
          </a:p>
          <a:p>
            <a:r>
              <a:rPr lang="ru-RU" sz="2800" dirty="0">
                <a:solidFill>
                  <a:schemeClr val="tx1"/>
                </a:solidFill>
                <a:hlinkClick r:id="rId6" action="ppaction://hlinksldjump"/>
              </a:rPr>
              <a:t>Инструменты для построения CI/CD </a:t>
            </a:r>
            <a:r>
              <a:rPr lang="ru-RU" sz="2800" dirty="0" err="1">
                <a:solidFill>
                  <a:schemeClr val="tx1"/>
                </a:solidFill>
                <a:hlinkClick r:id="rId6" action="ppaction://hlinksldjump"/>
              </a:rPr>
              <a:t>пайплайнов</a:t>
            </a:r>
            <a:endParaRPr lang="ru-RU" sz="2800" dirty="0">
              <a:solidFill>
                <a:schemeClr val="tx1"/>
              </a:solidFill>
            </a:endParaRPr>
          </a:p>
          <a:p>
            <a:r>
              <a:rPr lang="ru-RU" sz="2800" dirty="0">
                <a:solidFill>
                  <a:schemeClr val="tx1"/>
                </a:solidFill>
                <a:hlinkClick r:id="rId7" action="ppaction://hlinksldjump"/>
              </a:rPr>
              <a:t>Заключение</a:t>
            </a:r>
            <a:endParaRPr lang="ru-RU" sz="2800" dirty="0">
              <a:solidFill>
                <a:schemeClr val="tx1"/>
              </a:solidFill>
            </a:endParaRPr>
          </a:p>
          <a:p>
            <a:r>
              <a:rPr lang="ru-RU" sz="2800" dirty="0">
                <a:solidFill>
                  <a:schemeClr val="tx1"/>
                </a:solidFill>
                <a:hlinkClick r:id="rId8" action="ppaction://hlinksldjump"/>
              </a:rPr>
              <a:t>Вопросы для аудитории</a:t>
            </a:r>
            <a:endParaRPr lang="ru-RU" sz="2800" dirty="0">
              <a:solidFill>
                <a:schemeClr val="tx1"/>
              </a:solidFill>
            </a:endParaRPr>
          </a:p>
          <a:p>
            <a:r>
              <a:rPr lang="ru-RU" sz="2800" dirty="0">
                <a:solidFill>
                  <a:schemeClr val="tx1"/>
                </a:solidFill>
                <a:hlinkClick r:id="rId9" action="ppaction://hlinksldjump"/>
              </a:rPr>
              <a:t>Список использованных источников</a:t>
            </a: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22BDE8F6-482D-485D-92E5-4591F74E326C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83024" y="263809"/>
            <a:ext cx="220571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2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36298926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52589"/>
            <a:ext cx="3017873" cy="597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1"/>
                </a:solidFill>
                <a:ea typeface="Arial Black" pitchFamily="34" charset="0"/>
              </a:rPr>
              <a:t>ВВЕДЕНИЕ</a:t>
            </a:r>
            <a:endParaRPr lang="en-US" b="1" dirty="0">
              <a:solidFill>
                <a:schemeClr val="accent1"/>
              </a:solidFill>
              <a:ea typeface="Arial Black" pitchFamily="34" charset="0"/>
            </a:endParaRP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154142"/>
            <a:ext cx="5236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Традиционный подход к разработке, при котором команды разработчиков (</a:t>
            </a:r>
            <a:r>
              <a:rPr lang="en-US" dirty="0"/>
              <a:t>Dev</a:t>
            </a:r>
            <a:r>
              <a:rPr lang="ru-RU" dirty="0"/>
              <a:t>) и эксплуатации (</a:t>
            </a:r>
            <a:r>
              <a:rPr lang="en-US" dirty="0"/>
              <a:t>Ops</a:t>
            </a:r>
            <a:r>
              <a:rPr lang="ru-RU" dirty="0"/>
              <a:t>) работают изолированно, приводит к замедлению процессов, возникновению конфликтов и снижению качества продукта. </a:t>
            </a:r>
          </a:p>
          <a:p>
            <a:r>
              <a:rPr lang="ru-RU" dirty="0"/>
              <a:t>На смену этому подходу пришел </a:t>
            </a:r>
            <a:r>
              <a:rPr lang="en-US" b="1" dirty="0"/>
              <a:t>DevOps</a:t>
            </a:r>
            <a:r>
              <a:rPr lang="ru-RU" b="1" dirty="0"/>
              <a:t> (</a:t>
            </a:r>
            <a:r>
              <a:rPr lang="en-US" b="1" dirty="0"/>
              <a:t>Development and Operations</a:t>
            </a:r>
            <a:r>
              <a:rPr lang="ru-RU" b="1" dirty="0"/>
              <a:t>)</a:t>
            </a:r>
            <a:r>
              <a:rPr lang="ru-RU" dirty="0"/>
              <a:t> — культурная философия и набор практик, направленных на объединение этих команд для достижения общей цели: быстрой и надежной поставки программного обеспечения.</a:t>
            </a:r>
          </a:p>
          <a:p>
            <a:endParaRPr lang="ru-RU" dirty="0"/>
          </a:p>
          <a:p>
            <a:r>
              <a:rPr lang="ru-RU" dirty="0"/>
              <a:t>Цели и задачи: ключевые принципы </a:t>
            </a:r>
            <a:r>
              <a:rPr lang="en-US" dirty="0"/>
              <a:t>DevOps</a:t>
            </a:r>
            <a:r>
              <a:rPr lang="ru-RU" dirty="0"/>
              <a:t>, основополагающая практика </a:t>
            </a:r>
            <a:r>
              <a:rPr lang="en-US" dirty="0"/>
              <a:t>CI</a:t>
            </a:r>
            <a:r>
              <a:rPr lang="ru-RU" dirty="0"/>
              <a:t>/</a:t>
            </a:r>
            <a:r>
              <a:rPr lang="en-US" dirty="0"/>
              <a:t>CD</a:t>
            </a:r>
            <a:r>
              <a:rPr lang="ru-RU" dirty="0"/>
              <a:t>, популярные инструменты для их реализации.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CB9781B8-530E-432B-AD8A-C8ED67951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1762297"/>
            <a:ext cx="5881236" cy="3308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63EBD0-34D7-4AE4-9D09-B0F59EC4623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83024" y="263809"/>
            <a:ext cx="220571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3</a:t>
            </a:fld>
            <a:endParaRPr lang="ru-RU" sz="1800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35634"/>
            <a:ext cx="8312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3200" b="1" dirty="0">
                <a:solidFill>
                  <a:srgbClr val="A30236"/>
                </a:solidFill>
              </a:rPr>
              <a:t>ПРИНЦИПЫ </a:t>
            </a:r>
            <a:r>
              <a:rPr lang="en-US" sz="3200" b="1" dirty="0">
                <a:solidFill>
                  <a:srgbClr val="A30236"/>
                </a:solidFill>
              </a:rPr>
              <a:t>DevOps</a:t>
            </a:r>
            <a:r>
              <a:rPr lang="ru-RU" sz="3200" b="1" dirty="0">
                <a:solidFill>
                  <a:srgbClr val="A30236"/>
                </a:solidFill>
              </a:rPr>
              <a:t> И ИХ РЕАЛИЗАЦИЯ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431141"/>
            <a:ext cx="55868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DevOps</a:t>
            </a:r>
            <a:r>
              <a:rPr lang="ru-RU" dirty="0"/>
              <a:t> — это не просто набор инструментов, а прежде всего культурная трансформация. Эту философию часто описывают с помощью расширенной модели </a:t>
            </a:r>
            <a:r>
              <a:rPr lang="en-US" b="1" dirty="0"/>
              <a:t>CALMS</a:t>
            </a:r>
            <a:r>
              <a:rPr lang="ru-RU" dirty="0"/>
              <a:t>, которая включает следующие ключевые принципы:</a:t>
            </a:r>
          </a:p>
          <a:p>
            <a:endParaRPr lang="ru-RU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Culture</a:t>
            </a:r>
            <a:r>
              <a:rPr lang="ru-RU" b="1" dirty="0"/>
              <a:t> (Культура):</a:t>
            </a:r>
            <a:r>
              <a:rPr lang="ru-RU" dirty="0"/>
              <a:t> Основой </a:t>
            </a:r>
            <a:r>
              <a:rPr lang="en-US" dirty="0"/>
              <a:t>DevOps</a:t>
            </a:r>
            <a:r>
              <a:rPr lang="ru-RU" dirty="0"/>
              <a:t> является создание атмосферы общего доверия и ответственности. Разработчики, тестировщики и администраторы работают в кросс-функциональных командах с едиными бизнес-целями, активно обмениваются знаниями и опытом, а не перебрасывают задачи "через стену".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B213E-C381-42E8-B4FB-47D7E8D78B49}"/>
              </a:ext>
            </a:extLst>
          </p:cNvPr>
          <p:cNvSpPr txBox="1"/>
          <p:nvPr/>
        </p:nvSpPr>
        <p:spPr>
          <a:xfrm>
            <a:off x="6934945" y="1846640"/>
            <a:ext cx="5128952" cy="3139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i="1" u="sng" dirty="0"/>
              <a:t>Некоторые принципы культуры </a:t>
            </a:r>
            <a:r>
              <a:rPr lang="en-US" i="1" u="sng" dirty="0"/>
              <a:t>DevOps</a:t>
            </a:r>
            <a:r>
              <a:rPr lang="ru-RU" i="1" u="sng" dirty="0"/>
              <a:t>: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Совместная работа</a:t>
            </a:r>
            <a:r>
              <a:rPr lang="ru-RU" dirty="0"/>
              <a:t> — разработчики и операционные команды отвечают за продукт вместе.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Автономность команд</a:t>
            </a:r>
            <a:r>
              <a:rPr lang="ru-RU" dirty="0"/>
              <a:t> — команды принимают решения быстро и независимо.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Прозрачность и доверие</a:t>
            </a:r>
            <a:r>
              <a:rPr lang="ru-RU" dirty="0"/>
              <a:t> — все действия и изменения видны внутри организации.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Непрерывное обучение</a:t>
            </a:r>
            <a:r>
              <a:rPr lang="ru-RU" dirty="0"/>
              <a:t> — постоянная обратная связь, анализ ошибок и улучшение процессов.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011549-2B39-44CE-9ACC-E3560E0689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83024" y="263809"/>
            <a:ext cx="220571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4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54846345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35634"/>
            <a:ext cx="8312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3200" b="1" dirty="0">
                <a:solidFill>
                  <a:srgbClr val="A30236"/>
                </a:solidFill>
              </a:rPr>
              <a:t>ПРИНЦИПЫ </a:t>
            </a:r>
            <a:r>
              <a:rPr lang="en-US" sz="3200" b="1" dirty="0">
                <a:solidFill>
                  <a:srgbClr val="A30236"/>
                </a:solidFill>
              </a:rPr>
              <a:t>DevOps</a:t>
            </a:r>
            <a:r>
              <a:rPr lang="ru-RU" sz="3200" b="1" dirty="0">
                <a:solidFill>
                  <a:srgbClr val="A30236"/>
                </a:solidFill>
              </a:rPr>
              <a:t> И ИХ РЕАЛИЗАЦИЯ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431141"/>
            <a:ext cx="55868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US" b="1" dirty="0"/>
              <a:t>Automation</a:t>
            </a:r>
            <a:r>
              <a:rPr lang="ru-RU" b="1" dirty="0"/>
              <a:t> (Автоматизация):</a:t>
            </a:r>
            <a:r>
              <a:rPr lang="ru-RU" dirty="0"/>
              <a:t> Устраняет повторяющиеся задачи в цикле разработки ПО, начиная с проектирования и заканчивая развёртыванием. </a:t>
            </a:r>
          </a:p>
          <a:p>
            <a:pPr lvl="0"/>
            <a:endParaRPr lang="ru-RU" dirty="0"/>
          </a:p>
          <a:p>
            <a:r>
              <a:rPr lang="ru-RU" i="1" u="sng" dirty="0"/>
              <a:t>Примеры автоматизации в </a:t>
            </a:r>
            <a:r>
              <a:rPr lang="en-US" i="1" u="sng" dirty="0"/>
              <a:t>DevOps</a:t>
            </a:r>
            <a:r>
              <a:rPr lang="ru-RU" i="1" u="sng" dirty="0"/>
              <a:t>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Инструменты непрерывной интеграции и развёртывания (</a:t>
            </a:r>
            <a:r>
              <a:rPr lang="en-US" b="1" dirty="0"/>
              <a:t>CI</a:t>
            </a:r>
            <a:r>
              <a:rPr lang="ru-RU" b="1" dirty="0"/>
              <a:t>/</a:t>
            </a:r>
            <a:r>
              <a:rPr lang="en-US" b="1" dirty="0"/>
              <a:t>CD</a:t>
            </a:r>
            <a:r>
              <a:rPr lang="ru-RU" b="1" dirty="0"/>
              <a:t>)</a:t>
            </a:r>
            <a:r>
              <a:rPr lang="ru-RU" dirty="0"/>
              <a:t> — автоматизируют компиляцию, тестирование и развёртывание кода.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Практика «Инфраструктура как код» (</a:t>
            </a:r>
            <a:r>
              <a:rPr lang="en-US" b="1" dirty="0" err="1"/>
              <a:t>IaC</a:t>
            </a:r>
            <a:r>
              <a:rPr lang="ru-RU" b="1" dirty="0"/>
              <a:t>)</a:t>
            </a:r>
            <a:r>
              <a:rPr lang="ru-RU" dirty="0"/>
              <a:t> — позволяет конфигурировать и обслуживать компоненты инфраструктуры с использованием предопределённого кода.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B213E-C381-42E8-B4FB-47D7E8D78B49}"/>
              </a:ext>
            </a:extLst>
          </p:cNvPr>
          <p:cNvSpPr txBox="1"/>
          <p:nvPr/>
        </p:nvSpPr>
        <p:spPr>
          <a:xfrm>
            <a:off x="6934945" y="1708141"/>
            <a:ext cx="5128952" cy="3416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i="1" u="sng" dirty="0"/>
              <a:t>Некоторые особенности автоматизации в </a:t>
            </a:r>
            <a:r>
              <a:rPr lang="en-US" i="1" u="sng" dirty="0"/>
              <a:t>DevOps</a:t>
            </a:r>
            <a:r>
              <a:rPr lang="ru-RU" i="1" u="sng" dirty="0"/>
              <a:t>: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Ускорение выпуска ПО</a:t>
            </a:r>
            <a:r>
              <a:rPr lang="ru-RU" dirty="0"/>
              <a:t> — автоматизация исключает задержку в процессах, которая возникает при ручной обработке.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Стандартизация рабочих процессов</a:t>
            </a:r>
            <a:r>
              <a:rPr lang="ru-RU" dirty="0"/>
              <a:t> — это помогает минимизировать повторы, снизить риски.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Повышенная гибкость</a:t>
            </a:r>
            <a:r>
              <a:rPr lang="ru-RU" dirty="0"/>
              <a:t> — команды могут настраивать и оптимизировать автоматизированные процессы даже при изменении используемых технологий.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92F8B9-ED0D-4185-82AC-98FDFAAEC0C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83024" y="263809"/>
            <a:ext cx="220571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5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92741013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35634"/>
            <a:ext cx="8312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3200" b="1" dirty="0">
                <a:solidFill>
                  <a:srgbClr val="A30236"/>
                </a:solidFill>
              </a:rPr>
              <a:t>ПРИНЦИПЫ </a:t>
            </a:r>
            <a:r>
              <a:rPr lang="en-US" sz="3200" b="1" dirty="0">
                <a:solidFill>
                  <a:srgbClr val="A30236"/>
                </a:solidFill>
              </a:rPr>
              <a:t>DevOps</a:t>
            </a:r>
            <a:r>
              <a:rPr lang="ru-RU" sz="3200" b="1" dirty="0">
                <a:solidFill>
                  <a:srgbClr val="A30236"/>
                </a:solidFill>
              </a:rPr>
              <a:t> И ИХ РЕАЛИЗАЦИЯ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2539137"/>
            <a:ext cx="55868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 startAt="3"/>
            </a:pPr>
            <a:r>
              <a:rPr lang="en-US" b="1" dirty="0"/>
              <a:t>Lean</a:t>
            </a:r>
            <a:r>
              <a:rPr lang="ru-RU" b="1" dirty="0"/>
              <a:t> (Бережливость):</a:t>
            </a:r>
            <a:r>
              <a:rPr lang="ru-RU" dirty="0"/>
              <a:t> Применение принципов бережливого производства для оптимизации процессов, устранения потерь (ожиданий, лишних передач) и фокусировки на создании ценности для конечного пользователя.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B213E-C381-42E8-B4FB-47D7E8D78B49}"/>
              </a:ext>
            </a:extLst>
          </p:cNvPr>
          <p:cNvSpPr txBox="1"/>
          <p:nvPr/>
        </p:nvSpPr>
        <p:spPr>
          <a:xfrm>
            <a:off x="6934945" y="1154143"/>
            <a:ext cx="5128952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i="1" u="sng" dirty="0"/>
              <a:t>Некоторые принципы бережливого производства в </a:t>
            </a:r>
            <a:r>
              <a:rPr lang="ru-RU" i="1" u="sng" dirty="0" err="1"/>
              <a:t>DevOps</a:t>
            </a:r>
            <a:r>
              <a:rPr lang="ru-RU" i="1" u="sng" dirty="0"/>
              <a:t>: 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Устранение отходов</a:t>
            </a:r>
            <a:r>
              <a:rPr lang="ru-RU" dirty="0"/>
              <a:t> — фокус на устранении работы, которая не приносит пользы.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Качество строительства</a:t>
            </a:r>
            <a:r>
              <a:rPr lang="ru-RU" dirty="0"/>
              <a:t> — добавление проверок качества на каждом этапе конвейера, что помогает выявлять проблемы на ранней стадии и устранять их.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Создание знаний</a:t>
            </a:r>
            <a:r>
              <a:rPr lang="ru-RU" dirty="0"/>
              <a:t> — обмен знаниями и совместное обучение улучшают процесс принятия решений и стимулируют появление новых идей.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Быстрая доставка</a:t>
            </a:r>
            <a:r>
              <a:rPr lang="ru-RU" dirty="0"/>
              <a:t> — ускорение процессов без снижения качества, что помогает быстро реагировать на изменения.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705FAB-7C38-4B55-B00F-8E5D1EEA99F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83024" y="263809"/>
            <a:ext cx="220571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6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5728347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35634"/>
            <a:ext cx="8312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3200" b="1" dirty="0">
                <a:solidFill>
                  <a:srgbClr val="A30236"/>
                </a:solidFill>
              </a:rPr>
              <a:t>ПРИНЦИПЫ </a:t>
            </a:r>
            <a:r>
              <a:rPr lang="en-US" sz="3200" b="1" dirty="0">
                <a:solidFill>
                  <a:srgbClr val="A30236"/>
                </a:solidFill>
              </a:rPr>
              <a:t>DevOps</a:t>
            </a:r>
            <a:r>
              <a:rPr lang="ru-RU" sz="3200" b="1" dirty="0">
                <a:solidFill>
                  <a:srgbClr val="A30236"/>
                </a:solidFill>
              </a:rPr>
              <a:t> И ИХ РЕАЛИЗАЦИЯ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154143"/>
            <a:ext cx="55868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 startAt="4"/>
            </a:pPr>
            <a:r>
              <a:rPr lang="en-US" b="1" dirty="0"/>
              <a:t>Measurement</a:t>
            </a:r>
            <a:r>
              <a:rPr lang="ru-RU" b="1" dirty="0"/>
              <a:t> (Измерение):</a:t>
            </a:r>
            <a:r>
              <a:rPr lang="ru-RU" dirty="0"/>
              <a:t> Постоянное измерение и анализ данных для улучшения процессов. В </a:t>
            </a:r>
            <a:r>
              <a:rPr lang="en-US" dirty="0"/>
              <a:t>DevOps</a:t>
            </a:r>
            <a:r>
              <a:rPr lang="ru-RU" dirty="0"/>
              <a:t> важно отслеживать ключевые показатели, которые зависят от целей проекта.</a:t>
            </a:r>
          </a:p>
          <a:p>
            <a:pPr lvl="0"/>
            <a:endParaRPr lang="ru-RU" dirty="0"/>
          </a:p>
          <a:p>
            <a:r>
              <a:rPr lang="ru-RU" i="1" u="sng" dirty="0"/>
              <a:t>Некоторые аспекты измерения: </a:t>
            </a:r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Мониторинг производительности</a:t>
            </a:r>
            <a:r>
              <a:rPr lang="ru-RU" dirty="0"/>
              <a:t> на протяжении всего жизненного цикла разработки программного обеспечения.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Сбор, анализ и предоставление способов реагирования на обратную связь</a:t>
            </a:r>
            <a:r>
              <a:rPr lang="ru-RU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Анализ ошибок</a:t>
            </a:r>
            <a:r>
              <a:rPr lang="ru-RU" dirty="0"/>
              <a:t> и способов их предотвращения.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b="1" dirty="0"/>
              <a:t>Помощь командам</a:t>
            </a:r>
            <a:r>
              <a:rPr lang="ru-RU" dirty="0"/>
              <a:t> в работе над общими целями.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B213E-C381-42E8-B4FB-47D7E8D78B49}"/>
              </a:ext>
            </a:extLst>
          </p:cNvPr>
          <p:cNvSpPr txBox="1"/>
          <p:nvPr/>
        </p:nvSpPr>
        <p:spPr>
          <a:xfrm>
            <a:off x="6934945" y="1431142"/>
            <a:ext cx="5128952" cy="39703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dirty="0"/>
              <a:t>Для измерения в </a:t>
            </a:r>
            <a:r>
              <a:rPr lang="en-US" dirty="0"/>
              <a:t>DevOps</a:t>
            </a:r>
            <a:r>
              <a:rPr lang="ru-RU" dirty="0"/>
              <a:t> используются </a:t>
            </a:r>
            <a:r>
              <a:rPr lang="ru-RU" b="1" dirty="0"/>
              <a:t>метрики</a:t>
            </a:r>
            <a:r>
              <a:rPr lang="ru-RU" dirty="0"/>
              <a:t> — показатели, которые показывают производительность конвейера разработки ПО и помогают выявлять и устранять узкие места в процессе.</a:t>
            </a:r>
          </a:p>
          <a:p>
            <a:endParaRPr lang="ru-RU" dirty="0"/>
          </a:p>
          <a:p>
            <a:r>
              <a:rPr lang="ru-RU" dirty="0"/>
              <a:t>Например, метрики </a:t>
            </a:r>
            <a:r>
              <a:rPr lang="en-US" b="1" dirty="0"/>
              <a:t>DORA</a:t>
            </a:r>
            <a:r>
              <a:rPr lang="ru-RU" dirty="0"/>
              <a:t>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Частота развертываний </a:t>
            </a:r>
            <a:r>
              <a:rPr lang="ru-RU" b="1" dirty="0"/>
              <a:t>(</a:t>
            </a:r>
            <a:r>
              <a:rPr lang="ru-RU" b="1" dirty="0" err="1"/>
              <a:t>Deployment</a:t>
            </a:r>
            <a:r>
              <a:rPr lang="ru-RU" b="1" dirty="0"/>
              <a:t> </a:t>
            </a:r>
            <a:r>
              <a:rPr lang="ru-RU" b="1" dirty="0" err="1"/>
              <a:t>Frequency</a:t>
            </a:r>
            <a:r>
              <a:rPr lang="ru-RU" b="1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Время выполнения изменений </a:t>
            </a:r>
            <a:r>
              <a:rPr lang="ru-RU" b="1" dirty="0"/>
              <a:t>(</a:t>
            </a:r>
            <a:r>
              <a:rPr lang="ru-RU" b="1" dirty="0" err="1"/>
              <a:t>Lead</a:t>
            </a:r>
            <a:r>
              <a:rPr lang="ru-RU" b="1" dirty="0"/>
              <a:t> </a:t>
            </a:r>
            <a:r>
              <a:rPr lang="ru-RU" b="1" dirty="0" err="1"/>
              <a:t>Time</a:t>
            </a:r>
            <a:r>
              <a:rPr lang="ru-RU" b="1" dirty="0"/>
              <a:t> </a:t>
            </a:r>
            <a:r>
              <a:rPr lang="ru-RU" b="1" dirty="0" err="1"/>
              <a:t>for</a:t>
            </a:r>
            <a:r>
              <a:rPr lang="ru-RU" b="1" dirty="0"/>
              <a:t> </a:t>
            </a:r>
            <a:r>
              <a:rPr lang="ru-RU" b="1" dirty="0" err="1"/>
              <a:t>Changes</a:t>
            </a:r>
            <a:r>
              <a:rPr lang="ru-RU" b="1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Среднее время восстановления </a:t>
            </a:r>
            <a:r>
              <a:rPr lang="ru-RU" b="1" dirty="0"/>
              <a:t>(</a:t>
            </a:r>
            <a:r>
              <a:rPr lang="ru-RU" b="1" dirty="0" err="1"/>
              <a:t>Time</a:t>
            </a:r>
            <a:r>
              <a:rPr lang="ru-RU" b="1" dirty="0"/>
              <a:t> </a:t>
            </a:r>
            <a:r>
              <a:rPr lang="ru-RU" b="1" dirty="0" err="1"/>
              <a:t>to</a:t>
            </a:r>
            <a:r>
              <a:rPr lang="ru-RU" b="1" dirty="0"/>
              <a:t> </a:t>
            </a:r>
            <a:r>
              <a:rPr lang="ru-RU" b="1" dirty="0" err="1"/>
              <a:t>Restore</a:t>
            </a:r>
            <a:r>
              <a:rPr lang="ru-RU" b="1" dirty="0"/>
              <a:t> </a:t>
            </a:r>
            <a:r>
              <a:rPr lang="ru-RU" b="1" dirty="0" err="1"/>
              <a:t>Service</a:t>
            </a:r>
            <a:r>
              <a:rPr lang="ru-RU" b="1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Процент отказов </a:t>
            </a:r>
            <a:r>
              <a:rPr lang="ru-RU" b="1" dirty="0"/>
              <a:t>(</a:t>
            </a:r>
            <a:r>
              <a:rPr lang="ru-RU" b="1" dirty="0" err="1"/>
              <a:t>Change</a:t>
            </a:r>
            <a:r>
              <a:rPr lang="ru-RU" b="1" dirty="0"/>
              <a:t> </a:t>
            </a:r>
            <a:r>
              <a:rPr lang="ru-RU" b="1" dirty="0" err="1"/>
              <a:t>Failure</a:t>
            </a:r>
            <a:r>
              <a:rPr lang="ru-RU" b="1" dirty="0"/>
              <a:t> </a:t>
            </a:r>
            <a:r>
              <a:rPr lang="ru-RU" b="1" dirty="0" err="1"/>
              <a:t>Rate</a:t>
            </a:r>
            <a:r>
              <a:rPr lang="ru-RU" b="1" dirty="0"/>
              <a:t>)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B1DADB-C1C4-49D4-B4B7-A3DBA6D947F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83024" y="263809"/>
            <a:ext cx="220571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7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348158889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35634"/>
            <a:ext cx="83120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3200" b="1" dirty="0">
                <a:solidFill>
                  <a:srgbClr val="A30236"/>
                </a:solidFill>
              </a:rPr>
              <a:t>ПРИНЦИПЫ </a:t>
            </a:r>
            <a:r>
              <a:rPr lang="en-US" sz="3200" b="1" dirty="0">
                <a:solidFill>
                  <a:srgbClr val="A30236"/>
                </a:solidFill>
              </a:rPr>
              <a:t>DevOps</a:t>
            </a:r>
            <a:r>
              <a:rPr lang="ru-RU" sz="3200" b="1" dirty="0">
                <a:solidFill>
                  <a:srgbClr val="A30236"/>
                </a:solidFill>
              </a:rPr>
              <a:t> И ИХ РЕАЛИЗАЦИЯ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569641"/>
            <a:ext cx="63336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 startAt="5"/>
            </a:pPr>
            <a:r>
              <a:rPr lang="en-US" b="1" dirty="0"/>
              <a:t>Sharing</a:t>
            </a:r>
            <a:r>
              <a:rPr lang="ru-RU" b="1" dirty="0"/>
              <a:t> (Обмен знаниями):</a:t>
            </a:r>
            <a:r>
              <a:rPr lang="ru-RU" dirty="0"/>
              <a:t> Поощрение открытой коммуникации, документирования и передачи знаний между всеми участниками процесса для повышения общей компетенции и предотвращения ошибок.</a:t>
            </a:r>
          </a:p>
          <a:p>
            <a:pPr lvl="0"/>
            <a:endParaRPr lang="ru-RU" dirty="0"/>
          </a:p>
          <a:p>
            <a:r>
              <a:rPr lang="ru-RU" dirty="0"/>
              <a:t>Реализация этих принципов на практике достигается путем внедрения конкретных технических подходов. К ним относятся непрерывная интеграция и доставка (</a:t>
            </a:r>
            <a:r>
              <a:rPr lang="en-US" dirty="0"/>
              <a:t>CI</a:t>
            </a:r>
            <a:r>
              <a:rPr lang="ru-RU" dirty="0"/>
              <a:t>/</a:t>
            </a:r>
            <a:r>
              <a:rPr lang="en-US" dirty="0"/>
              <a:t>CD</a:t>
            </a:r>
            <a:r>
              <a:rPr lang="ru-RU" dirty="0"/>
              <a:t>), управление конфигурациями, инфраструктура как код (</a:t>
            </a:r>
            <a:r>
              <a:rPr lang="en-US" dirty="0"/>
              <a:t>Infrastructure as Code</a:t>
            </a:r>
            <a:r>
              <a:rPr lang="ru-RU" dirty="0"/>
              <a:t>, </a:t>
            </a:r>
            <a:r>
              <a:rPr lang="en-US" dirty="0" err="1"/>
              <a:t>IaC</a:t>
            </a:r>
            <a:r>
              <a:rPr lang="ru-RU" dirty="0"/>
              <a:t>) с помощью таких инструментов, как </a:t>
            </a:r>
            <a:r>
              <a:rPr lang="en-US" dirty="0"/>
              <a:t>Terraform</a:t>
            </a:r>
            <a:r>
              <a:rPr lang="ru-RU" dirty="0"/>
              <a:t> или </a:t>
            </a:r>
            <a:r>
              <a:rPr lang="en-US" dirty="0"/>
              <a:t>Ansible</a:t>
            </a:r>
            <a:r>
              <a:rPr lang="ru-RU" dirty="0"/>
              <a:t>, контейнеризация (</a:t>
            </a:r>
            <a:r>
              <a:rPr lang="en-US" dirty="0"/>
              <a:t>Docker</a:t>
            </a:r>
            <a:r>
              <a:rPr lang="ru-RU" dirty="0"/>
              <a:t>, </a:t>
            </a:r>
            <a:r>
              <a:rPr lang="en-US" dirty="0"/>
              <a:t>Kubernetes</a:t>
            </a:r>
            <a:r>
              <a:rPr lang="ru-RU" dirty="0"/>
              <a:t>) и непрерывный мониторинг.</a:t>
            </a: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F8E04226-905C-44CF-B6E6-7D0777ED16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87" t="9382" r="20984" b="32009"/>
          <a:stretch/>
        </p:blipFill>
        <p:spPr bwMode="auto">
          <a:xfrm>
            <a:off x="8345977" y="1836163"/>
            <a:ext cx="3150523" cy="3160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7B5722-5A5F-44A5-BF83-26B1DB2B056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83024" y="263809"/>
            <a:ext cx="220571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8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77490498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93027"/>
            <a:ext cx="10124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>
                <a:solidFill>
                  <a:srgbClr val="A30236"/>
                </a:solidFill>
              </a:rPr>
              <a:t>CI</a:t>
            </a:r>
            <a:r>
              <a:rPr lang="ru-RU" sz="2400" b="1" dirty="0">
                <a:solidFill>
                  <a:srgbClr val="A30236"/>
                </a:solidFill>
              </a:rPr>
              <a:t>/</a:t>
            </a:r>
            <a:r>
              <a:rPr lang="en-US" sz="2400" b="1" dirty="0">
                <a:solidFill>
                  <a:srgbClr val="A30236"/>
                </a:solidFill>
              </a:rPr>
              <a:t>CD</a:t>
            </a:r>
            <a:r>
              <a:rPr lang="ru-RU" sz="2400" b="1" dirty="0">
                <a:solidFill>
                  <a:srgbClr val="A30236"/>
                </a:solidFill>
              </a:rPr>
              <a:t> ПАЙПЛАЙНЫ: НЕПРЕРЫВНАЯ ИНТЕГРАЦИЯ И ДОСТАВКА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154143"/>
            <a:ext cx="558689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Центральным звеном автоматизации в </a:t>
            </a:r>
            <a:r>
              <a:rPr lang="en-US" dirty="0"/>
              <a:t>DevOps</a:t>
            </a:r>
            <a:r>
              <a:rPr lang="ru-RU" dirty="0"/>
              <a:t> является </a:t>
            </a:r>
            <a:r>
              <a:rPr lang="en-US" b="1" dirty="0"/>
              <a:t>CI</a:t>
            </a:r>
            <a:r>
              <a:rPr lang="ru-RU" b="1" dirty="0"/>
              <a:t>/</a:t>
            </a:r>
            <a:r>
              <a:rPr lang="en-US" b="1" dirty="0"/>
              <a:t>CD</a:t>
            </a:r>
            <a:r>
              <a:rPr lang="ru-RU" b="1" dirty="0"/>
              <a:t> </a:t>
            </a:r>
            <a:r>
              <a:rPr lang="ru-RU" b="1" dirty="0" err="1"/>
              <a:t>пайплайн</a:t>
            </a:r>
            <a:r>
              <a:rPr lang="ru-RU" dirty="0"/>
              <a:t>. Это автоматизированная последовательность действий, которую проходит код от момента его написания разработчиком до выхода в продуктивную среду.</a:t>
            </a:r>
          </a:p>
          <a:p>
            <a:r>
              <a:rPr lang="ru-RU" dirty="0" err="1"/>
              <a:t>Пайплайн</a:t>
            </a:r>
            <a:r>
              <a:rPr lang="ru-RU" dirty="0"/>
              <a:t> состоит из двух основных частей:</a:t>
            </a:r>
          </a:p>
          <a:p>
            <a:endParaRPr lang="ru-RU" dirty="0"/>
          </a:p>
          <a:p>
            <a:pPr marL="342900" lvl="0" indent="-342900">
              <a:buFont typeface="+mj-lt"/>
              <a:buAutoNum type="arabicPeriod"/>
            </a:pPr>
            <a:r>
              <a:rPr lang="en-US" b="1" dirty="0"/>
              <a:t>Continuous Integration (CI) — </a:t>
            </a:r>
            <a:r>
              <a:rPr lang="en-US" b="1" dirty="0" err="1"/>
              <a:t>Непрерывная</a:t>
            </a:r>
            <a:r>
              <a:rPr lang="en-US" b="1" dirty="0"/>
              <a:t> </a:t>
            </a:r>
            <a:r>
              <a:rPr lang="en-US" b="1" dirty="0" err="1"/>
              <a:t>интеграция</a:t>
            </a:r>
            <a:r>
              <a:rPr lang="en-US" b="1" dirty="0"/>
              <a:t>:</a:t>
            </a:r>
            <a:endParaRPr lang="ru-RU" dirty="0"/>
          </a:p>
          <a:p>
            <a:r>
              <a:rPr lang="ru-RU" b="1" dirty="0"/>
              <a:t>CI</a:t>
            </a:r>
            <a:r>
              <a:rPr lang="ru-RU" dirty="0"/>
              <a:t> — это подход к разработке, при котором все изменения в коде как можно раньше добавляются в основную ветку общего репозитория. Каждый раз, когда разработчик сохраняет или объединяет изменения, автоматически запускаются тесты и сборка проекта.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B213E-C381-42E8-B4FB-47D7E8D78B49}"/>
              </a:ext>
            </a:extLst>
          </p:cNvPr>
          <p:cNvSpPr txBox="1"/>
          <p:nvPr/>
        </p:nvSpPr>
        <p:spPr>
          <a:xfrm>
            <a:off x="6934945" y="1292643"/>
            <a:ext cx="5128952" cy="4247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b="1" dirty="0"/>
              <a:t>Цель CI</a:t>
            </a:r>
            <a:r>
              <a:rPr lang="ru-RU" dirty="0"/>
              <a:t> — вовремя поймать ошибки и уязвимости, пока они ещё не успели разрастись и повлиять на другие части системы. Чем раньше найдена ошибка, тем дешевле и проще её устранить.</a:t>
            </a:r>
          </a:p>
          <a:p>
            <a:endParaRPr lang="ru-RU" dirty="0"/>
          </a:p>
          <a:p>
            <a:r>
              <a:rPr lang="ru-RU" b="1" dirty="0"/>
              <a:t>Особенности CI</a:t>
            </a:r>
            <a:r>
              <a:rPr lang="ru-RU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Изменения интегрируются небольшими порциями, но постоянно.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Каждый </a:t>
            </a:r>
            <a:r>
              <a:rPr lang="ru-RU" dirty="0" err="1"/>
              <a:t>коммит</a:t>
            </a:r>
            <a:r>
              <a:rPr lang="ru-RU" dirty="0"/>
              <a:t> запускает автоматические процессы: сборку приложения, запуск юнит-тестов, статический анализ кода и т. д.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/>
              <a:t>Если где-то допущена ошибка, система уведомит команду сразу, и исправление займёт минимум времени.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81B07B-DF0C-4237-AC6D-3E561B515F2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683024" y="263809"/>
            <a:ext cx="220571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9</a:t>
            </a:fld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32706975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93027"/>
            <a:ext cx="10124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400" b="1" dirty="0">
                <a:solidFill>
                  <a:srgbClr val="A30236"/>
                </a:solidFill>
              </a:rPr>
              <a:t>CI</a:t>
            </a:r>
            <a:r>
              <a:rPr lang="ru-RU" sz="2400" b="1" dirty="0">
                <a:solidFill>
                  <a:srgbClr val="A30236"/>
                </a:solidFill>
              </a:rPr>
              <a:t>/</a:t>
            </a:r>
            <a:r>
              <a:rPr lang="en-US" sz="2400" b="1" dirty="0">
                <a:solidFill>
                  <a:srgbClr val="A30236"/>
                </a:solidFill>
              </a:rPr>
              <a:t>CD</a:t>
            </a:r>
            <a:r>
              <a:rPr lang="ru-RU" sz="2400" b="1" dirty="0">
                <a:solidFill>
                  <a:srgbClr val="A30236"/>
                </a:solidFill>
              </a:rPr>
              <a:t> ПАЙПЛАЙНЫ: НЕПРЕРЫВНАЯ ИНТЕГРАЦИЯ И ДОСТАВКА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123365"/>
            <a:ext cx="5586897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US" b="1" dirty="0"/>
              <a:t>Continuous Delivery (CD) — </a:t>
            </a:r>
            <a:r>
              <a:rPr lang="en-US" b="1" dirty="0" err="1"/>
              <a:t>Непрерывная</a:t>
            </a:r>
            <a:r>
              <a:rPr lang="en-US" b="1" dirty="0"/>
              <a:t> </a:t>
            </a:r>
            <a:r>
              <a:rPr lang="en-US" b="1" dirty="0" err="1"/>
              <a:t>доставка</a:t>
            </a:r>
            <a:r>
              <a:rPr lang="en-US" b="1" dirty="0"/>
              <a:t>:</a:t>
            </a:r>
            <a:endParaRPr lang="ru-RU" dirty="0"/>
          </a:p>
          <a:p>
            <a:r>
              <a:rPr lang="ru-RU" sz="1600" b="1" dirty="0"/>
              <a:t>CD</a:t>
            </a:r>
            <a:r>
              <a:rPr lang="ru-RU" sz="1600" dirty="0"/>
              <a:t> — это продолжение практики CI, которая помогает автоматизировать финальные шаги: подготовку инфраструктуры и выпуск приложения. После того, как код прошёл тесты и сборку в рамках CI, CD отвечает за то, чтобы всё было готово к развёртыванию — и сам код, и окружение, в котором он будет работать.</a:t>
            </a:r>
          </a:p>
          <a:p>
            <a:endParaRPr lang="ru-RU" sz="1600" dirty="0"/>
          </a:p>
          <a:p>
            <a:r>
              <a:rPr lang="ru-RU" sz="1600" b="1" dirty="0"/>
              <a:t>Суть CD</a:t>
            </a:r>
            <a:r>
              <a:rPr lang="ru-RU" sz="1600" dirty="0"/>
              <a:t> — чтобы приложение можно было выкатить в </a:t>
            </a:r>
            <a:r>
              <a:rPr lang="ru-RU" sz="1600" dirty="0" err="1"/>
              <a:t>продакшен</a:t>
            </a:r>
            <a:r>
              <a:rPr lang="ru-RU" sz="1600" dirty="0"/>
              <a:t> в любой момент — без спешки и экстренной подготовки. Это может включать настройку серверов, подключение баз данных и развёртывание приложения в тестовой или даже «боевой» среде.</a:t>
            </a:r>
          </a:p>
          <a:p>
            <a:endParaRPr lang="ru-RU" sz="1600" dirty="0"/>
          </a:p>
          <a:p>
            <a:r>
              <a:rPr lang="ru-RU" sz="1600" b="1" dirty="0"/>
              <a:t>При этом само развёртывание</a:t>
            </a:r>
            <a:r>
              <a:rPr lang="ru-RU" sz="1600" dirty="0"/>
              <a:t> можно запускать вручную — например, когда команда решит, что пора выпускать обновление.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8B213E-C381-42E8-B4FB-47D7E8D78B49}"/>
              </a:ext>
            </a:extLst>
          </p:cNvPr>
          <p:cNvSpPr txBox="1"/>
          <p:nvPr/>
        </p:nvSpPr>
        <p:spPr>
          <a:xfrm>
            <a:off x="6934945" y="907922"/>
            <a:ext cx="5128952" cy="50167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ru-RU" sz="1600" i="1" u="sng" dirty="0"/>
              <a:t>Типовой </a:t>
            </a:r>
            <a:r>
              <a:rPr lang="en-US" sz="1600" i="1" u="sng" dirty="0"/>
              <a:t>CI</a:t>
            </a:r>
            <a:r>
              <a:rPr lang="ru-RU" sz="1600" i="1" u="sng" dirty="0"/>
              <a:t>/</a:t>
            </a:r>
            <a:r>
              <a:rPr lang="en-US" sz="1600" i="1" u="sng" dirty="0"/>
              <a:t>CD</a:t>
            </a:r>
            <a:r>
              <a:rPr lang="ru-RU" sz="1600" i="1" u="sng" dirty="0"/>
              <a:t> </a:t>
            </a:r>
            <a:r>
              <a:rPr lang="ru-RU" sz="1600" i="1" u="sng" dirty="0" err="1"/>
              <a:t>пайплайн</a:t>
            </a:r>
            <a:r>
              <a:rPr lang="ru-RU" sz="1600" i="1" u="sng" dirty="0"/>
              <a:t> включает следующие этапы:</a:t>
            </a:r>
            <a:endParaRPr lang="ru-RU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Получение кода:</a:t>
            </a:r>
            <a:r>
              <a:rPr lang="ru-RU" sz="1600" dirty="0"/>
              <a:t> Клонирование репозитория.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Установка зависимостей:</a:t>
            </a:r>
            <a:r>
              <a:rPr lang="ru-RU" sz="1600" dirty="0"/>
              <a:t> Загрузка необходимых библиотек и пакетов.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Сборка:</a:t>
            </a:r>
            <a:r>
              <a:rPr lang="ru-RU" sz="1600" dirty="0"/>
              <a:t> Компиляция кода, создание исполняемых файлов или </a:t>
            </a:r>
            <a:r>
              <a:rPr lang="en-US" sz="1600" dirty="0"/>
              <a:t>Docker</a:t>
            </a:r>
            <a:r>
              <a:rPr lang="ru-RU" sz="1600" dirty="0"/>
              <a:t>-образов.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Тестирование:</a:t>
            </a:r>
            <a:r>
              <a:rPr lang="ru-RU" sz="1600" dirty="0"/>
              <a:t> Запуск модульных, интеграционных тестов, а также тестов безопасности и производительности.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Публикация артефактов:</a:t>
            </a:r>
            <a:r>
              <a:rPr lang="ru-RU" sz="1600" dirty="0"/>
              <a:t> Сохранение собранного пакета/образа в реестре.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1600" b="1" dirty="0"/>
              <a:t>Развертывание:</a:t>
            </a:r>
            <a:r>
              <a:rPr lang="ru-RU" sz="1600" dirty="0"/>
              <a:t> Выкатка приложения на целевую среду.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Для снижения рисков при развертывании используются различные стратегии, такие как </a:t>
            </a:r>
            <a:r>
              <a:rPr lang="ru-RU" sz="1600" b="1" dirty="0"/>
              <a:t>сине-зеленое (</a:t>
            </a:r>
            <a:r>
              <a:rPr lang="en-US" sz="1600" b="1" dirty="0"/>
              <a:t>blue</a:t>
            </a:r>
            <a:r>
              <a:rPr lang="ru-RU" sz="1600" b="1" dirty="0"/>
              <a:t>/</a:t>
            </a:r>
            <a:r>
              <a:rPr lang="en-US" sz="1600" b="1" dirty="0"/>
              <a:t>green</a:t>
            </a:r>
            <a:r>
              <a:rPr lang="ru-RU" sz="1600" b="1" dirty="0"/>
              <a:t>) развертывание</a:t>
            </a:r>
            <a:r>
              <a:rPr lang="ru-RU" sz="1600" dirty="0"/>
              <a:t>, когда новая версия запускается параллельно со старой, и после ее проверки трафик мгновенно переключается на нее.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F296B5-0341-4D5C-A7FA-C99FC1168CB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54783" y="263809"/>
            <a:ext cx="348812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916680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208417"/>
            <a:ext cx="10207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700" b="1" dirty="0">
                <a:solidFill>
                  <a:srgbClr val="A30236"/>
                </a:solidFill>
              </a:rPr>
              <a:t>ИНСТРУМЕНТЫ ДЛЯ ПОСТРОЕНИЯ </a:t>
            </a:r>
            <a:r>
              <a:rPr lang="en-US" sz="2700" b="1" dirty="0">
                <a:solidFill>
                  <a:srgbClr val="A30236"/>
                </a:solidFill>
              </a:rPr>
              <a:t>CI</a:t>
            </a:r>
            <a:r>
              <a:rPr lang="ru-RU" sz="2700" b="1" dirty="0">
                <a:solidFill>
                  <a:srgbClr val="A30236"/>
                </a:solidFill>
              </a:rPr>
              <a:t>/</a:t>
            </a:r>
            <a:r>
              <a:rPr lang="en-US" sz="2700" b="1" dirty="0">
                <a:solidFill>
                  <a:srgbClr val="A30236"/>
                </a:solidFill>
              </a:rPr>
              <a:t>CD</a:t>
            </a:r>
            <a:r>
              <a:rPr lang="ru-RU" sz="2700" b="1" dirty="0">
                <a:solidFill>
                  <a:srgbClr val="A30236"/>
                </a:solidFill>
              </a:rPr>
              <a:t> ПАЙПЛАЙНОВ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123365"/>
            <a:ext cx="558689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Современный рынок предлагает широкий спектр инструментов для автоматизации </a:t>
            </a:r>
            <a:r>
              <a:rPr lang="en-US" dirty="0"/>
              <a:t>CI</a:t>
            </a:r>
            <a:r>
              <a:rPr lang="ru-RU" dirty="0"/>
              <a:t>/</a:t>
            </a:r>
            <a:r>
              <a:rPr lang="en-US" dirty="0"/>
              <a:t>CD</a:t>
            </a:r>
            <a:r>
              <a:rPr lang="ru-RU" dirty="0"/>
              <a:t>. Их выбор зависит от инфраструктуры компании, предпочтений команды и масштаба проекта.</a:t>
            </a:r>
          </a:p>
          <a:p>
            <a:endParaRPr lang="ru-RU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Jenkins</a:t>
            </a:r>
            <a:r>
              <a:rPr lang="ru-RU" b="1" dirty="0"/>
              <a:t>:</a:t>
            </a:r>
            <a:r>
              <a:rPr lang="ru-RU" dirty="0"/>
              <a:t> Это один из самых известных и зрелых инструментов с открытым исходным кодом. Его главная сила — огромная экосистема плагинов, позволяющая интегрировать его практически с чем угодно. Однако </a:t>
            </a:r>
            <a:r>
              <a:rPr lang="en-US" dirty="0"/>
              <a:t>Jenkins</a:t>
            </a:r>
            <a:r>
              <a:rPr lang="ru-RU" dirty="0"/>
              <a:t> требует самостоятельного администрирования, настройки и обслуживания сервера, а его конфигурация часто ведется через веб-интерфейс или сложные скрипты на </a:t>
            </a:r>
            <a:r>
              <a:rPr lang="en-US" dirty="0"/>
              <a:t>Groovy</a:t>
            </a:r>
            <a:r>
              <a:rPr lang="ru-RU" dirty="0"/>
              <a:t>. Он хорошо подходит для сложных, </a:t>
            </a:r>
            <a:r>
              <a:rPr lang="ru-RU" dirty="0" err="1"/>
              <a:t>высококастомизированных</a:t>
            </a:r>
            <a:r>
              <a:rPr lang="ru-RU" dirty="0"/>
              <a:t> сред.</a:t>
            </a:r>
          </a:p>
        </p:txBody>
      </p:sp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0443CC47-A227-45E5-B9E5-D66DDDD573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27556" y1="73427" x2="27556" y2="73427"/>
                        <a14:foregroundMark x1="33444" y1="66783" x2="33444" y2="66783"/>
                        <a14:foregroundMark x1="46889" y1="48951" x2="46889" y2="48951"/>
                        <a14:foregroundMark x1="46889" y1="53497" x2="46889" y2="53497"/>
                        <a14:foregroundMark x1="49667" y1="54895" x2="49667" y2="54895"/>
                        <a14:foregroundMark x1="53000" y1="54545" x2="53000" y2="54545"/>
                        <a14:foregroundMark x1="55889" y1="50000" x2="55889" y2="50000"/>
                        <a14:foregroundMark x1="55778" y1="54196" x2="55778" y2="54196"/>
                        <a14:foregroundMark x1="59444" y1="50699" x2="59444" y2="50699"/>
                        <a14:foregroundMark x1="63000" y1="53497" x2="63000" y2="53497"/>
                        <a14:foregroundMark x1="65222" y1="48951" x2="65222" y2="48951"/>
                        <a14:foregroundMark x1="68111" y1="41608" x2="68111" y2="41608"/>
                        <a14:foregroundMark x1="68556" y1="50350" x2="68556" y2="50350"/>
                        <a14:foregroundMark x1="71333" y1="52797" x2="71333" y2="52797"/>
                        <a14:foregroundMark x1="75111" y1="51049" x2="75111" y2="51049"/>
                        <a14:foregroundMark x1="77333" y1="51399" x2="77333" y2="51399"/>
                        <a14:foregroundMark x1="79556" y1="54895" x2="79556" y2="54895"/>
                        <a14:foregroundMark x1="27111" y1="77972" x2="27111" y2="7797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360" r="13483"/>
          <a:stretch/>
        </p:blipFill>
        <p:spPr bwMode="auto">
          <a:xfrm>
            <a:off x="7190509" y="2567741"/>
            <a:ext cx="3906982" cy="169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617035-5528-4474-9B74-E987EFD60F7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54783" y="263809"/>
            <a:ext cx="348812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689835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208417"/>
            <a:ext cx="10207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700" b="1" dirty="0">
                <a:solidFill>
                  <a:srgbClr val="A30236"/>
                </a:solidFill>
              </a:rPr>
              <a:t>ИНСТРУМЕНТЫ ДЛЯ ПОСТРОЕНИЯ </a:t>
            </a:r>
            <a:r>
              <a:rPr lang="en-US" sz="2700" b="1" dirty="0">
                <a:solidFill>
                  <a:srgbClr val="A30236"/>
                </a:solidFill>
              </a:rPr>
              <a:t>CI</a:t>
            </a:r>
            <a:r>
              <a:rPr lang="ru-RU" sz="2700" b="1" dirty="0">
                <a:solidFill>
                  <a:srgbClr val="A30236"/>
                </a:solidFill>
              </a:rPr>
              <a:t>/</a:t>
            </a:r>
            <a:r>
              <a:rPr lang="en-US" sz="2700" b="1" dirty="0">
                <a:solidFill>
                  <a:srgbClr val="A30236"/>
                </a:solidFill>
              </a:rPr>
              <a:t>CD</a:t>
            </a:r>
            <a:r>
              <a:rPr lang="ru-RU" sz="2700" b="1" dirty="0">
                <a:solidFill>
                  <a:srgbClr val="A30236"/>
                </a:solidFill>
              </a:rPr>
              <a:t> ПАЙПЛАЙНОВ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164823"/>
            <a:ext cx="55868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/>
              <a:t>GitLab CI</a:t>
            </a:r>
            <a:r>
              <a:rPr lang="ru-RU" b="1" dirty="0"/>
              <a:t>:</a:t>
            </a:r>
            <a:r>
              <a:rPr lang="ru-RU" dirty="0"/>
              <a:t> Встроенный инструмент в платформу </a:t>
            </a:r>
            <a:r>
              <a:rPr lang="en-US" dirty="0"/>
              <a:t>GitLab</a:t>
            </a:r>
            <a:r>
              <a:rPr lang="ru-RU" dirty="0"/>
              <a:t>. Он тесно интегрирован с репозиторием кода, что позволяет управлять всем процессом разработки в одном окне. </a:t>
            </a:r>
            <a:r>
              <a:rPr lang="ru-RU" dirty="0" err="1"/>
              <a:t>Пайплайны</a:t>
            </a:r>
            <a:r>
              <a:rPr lang="ru-RU" dirty="0"/>
              <a:t> описываются в файле </a:t>
            </a:r>
            <a:r>
              <a:rPr lang="ru-RU" b="1" i="1" dirty="0"/>
              <a:t>.</a:t>
            </a:r>
            <a:r>
              <a:rPr lang="en-US" b="1" i="1" dirty="0" err="1"/>
              <a:t>gitlab</a:t>
            </a:r>
            <a:r>
              <a:rPr lang="ru-RU" b="1" i="1" dirty="0"/>
              <a:t>-</a:t>
            </a:r>
            <a:r>
              <a:rPr lang="en-US" b="1" i="1" dirty="0"/>
              <a:t>ci</a:t>
            </a:r>
            <a:r>
              <a:rPr lang="ru-RU" b="1" i="1" dirty="0"/>
              <a:t>.</a:t>
            </a:r>
            <a:r>
              <a:rPr lang="en-US" b="1" i="1" dirty="0" err="1"/>
              <a:t>yml</a:t>
            </a:r>
            <a:r>
              <a:rPr lang="en-US" dirty="0"/>
              <a:t> </a:t>
            </a:r>
            <a:r>
              <a:rPr lang="ru-RU" dirty="0"/>
              <a:t>на простом </a:t>
            </a:r>
            <a:r>
              <a:rPr lang="en-US" dirty="0"/>
              <a:t>YAML</a:t>
            </a:r>
            <a:r>
              <a:rPr lang="ru-RU" dirty="0"/>
              <a:t>. </a:t>
            </a:r>
            <a:r>
              <a:rPr lang="en-US" dirty="0"/>
              <a:t>GitLab CI</a:t>
            </a:r>
            <a:r>
              <a:rPr lang="ru-RU" dirty="0"/>
              <a:t> отлично поддерживает контейнеризацию и автоматизацию (например, </a:t>
            </a:r>
            <a:r>
              <a:rPr lang="en-US" dirty="0"/>
              <a:t>Auto DevOps</a:t>
            </a:r>
            <a:r>
              <a:rPr lang="ru-RU" dirty="0"/>
              <a:t>) . Идеальный выбор для команд, уже использующих </a:t>
            </a:r>
            <a:r>
              <a:rPr lang="en-US" dirty="0"/>
              <a:t>GitLab</a:t>
            </a:r>
            <a:r>
              <a:rPr lang="ru-RU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DF891E-61E4-4C11-9ED9-5C8691187676}"/>
              </a:ext>
            </a:extLst>
          </p:cNvPr>
          <p:cNvSpPr txBox="1"/>
          <p:nvPr/>
        </p:nvSpPr>
        <p:spPr>
          <a:xfrm>
            <a:off x="7431578" y="2907240"/>
            <a:ext cx="4632319" cy="313931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indent="-285750">
              <a:buSzTx/>
              <a:buFont typeface="Arial" panose="020B0604020202020204" pitchFamily="34" charset="0"/>
              <a:buChar char="•"/>
            </a:pPr>
            <a:r>
              <a:rPr lang="en-US" b="1" dirty="0"/>
              <a:t>GitHub Actions</a:t>
            </a:r>
            <a:r>
              <a:rPr lang="ru-RU" b="1" dirty="0"/>
              <a:t>:</a:t>
            </a:r>
            <a:r>
              <a:rPr lang="ru-RU" dirty="0"/>
              <a:t> Аналогично </a:t>
            </a:r>
            <a:r>
              <a:rPr lang="en-US" dirty="0"/>
              <a:t>GitLab</a:t>
            </a:r>
            <a:r>
              <a:rPr lang="ru-RU" dirty="0"/>
              <a:t>, это решение глубоко интегрировано в экосистему </a:t>
            </a:r>
            <a:r>
              <a:rPr lang="en-US" dirty="0"/>
              <a:t>GitHub</a:t>
            </a:r>
            <a:r>
              <a:rPr lang="ru-RU" dirty="0"/>
              <a:t>. </a:t>
            </a:r>
            <a:r>
              <a:rPr lang="ru-RU" dirty="0" err="1"/>
              <a:t>Пайплайны</a:t>
            </a:r>
            <a:r>
              <a:rPr lang="ru-RU" dirty="0"/>
              <a:t> описываются в </a:t>
            </a:r>
            <a:r>
              <a:rPr lang="en-US" dirty="0"/>
              <a:t>YAML</a:t>
            </a:r>
            <a:r>
              <a:rPr lang="ru-RU" dirty="0"/>
              <a:t>-файлах. Ключевая особенность — огромный </a:t>
            </a:r>
            <a:r>
              <a:rPr lang="en-US" b="1" dirty="0"/>
              <a:t>Marketplace</a:t>
            </a:r>
            <a:r>
              <a:rPr lang="ru-RU" dirty="0"/>
              <a:t>, где можно найти готовые блоки (</a:t>
            </a:r>
            <a:r>
              <a:rPr lang="en-US" dirty="0"/>
              <a:t>actions</a:t>
            </a:r>
            <a:r>
              <a:rPr lang="ru-RU" dirty="0"/>
              <a:t>) для выполнения практически любых задач, что ускоряет разработку </a:t>
            </a:r>
            <a:r>
              <a:rPr lang="ru-RU" dirty="0" err="1"/>
              <a:t>пайплайнов</a:t>
            </a:r>
            <a:r>
              <a:rPr lang="ru-RU" dirty="0"/>
              <a:t>. Это лучший выбор для </a:t>
            </a:r>
            <a:r>
              <a:rPr lang="en-US" dirty="0"/>
              <a:t>open</a:t>
            </a:r>
            <a:r>
              <a:rPr lang="ru-RU" dirty="0"/>
              <a:t>-</a:t>
            </a:r>
            <a:r>
              <a:rPr lang="en-US" dirty="0"/>
              <a:t>source</a:t>
            </a:r>
            <a:r>
              <a:rPr lang="ru-RU" dirty="0"/>
              <a:t> проектов и команд, работающих на </a:t>
            </a:r>
            <a:r>
              <a:rPr lang="en-US" dirty="0"/>
              <a:t>GitHub</a:t>
            </a:r>
            <a:r>
              <a:rPr lang="ru-RU" dirty="0"/>
              <a:t>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1EA4351C-5845-49C7-9ED6-769EB116D6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39453" y1="48889" x2="39453" y2="48889"/>
                        <a14:foregroundMark x1="46797" y1="50972" x2="46797" y2="50972"/>
                        <a14:foregroundMark x1="46797" y1="44583" x2="46797" y2="44583"/>
                        <a14:foregroundMark x1="49063" y1="47222" x2="49063" y2="47222"/>
                        <a14:foregroundMark x1="51484" y1="46806" x2="51484" y2="46806"/>
                        <a14:foregroundMark x1="59062" y1="48333" x2="59062" y2="48333"/>
                        <a14:foregroundMark x1="60859" y1="47500" x2="60859" y2="47500"/>
                        <a14:foregroundMark x1="66484" y1="50694" x2="66484" y2="50694"/>
                        <a14:foregroundMark x1="69219" y1="48611" x2="69219" y2="48611"/>
                        <a14:foregroundMark x1="76016" y1="46528" x2="76016" y2="4652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9568" t="31748" r="15127" b="24689"/>
          <a:stretch/>
        </p:blipFill>
        <p:spPr bwMode="auto">
          <a:xfrm>
            <a:off x="1114226" y="4458828"/>
            <a:ext cx="4879571" cy="1587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Picture background">
            <a:extLst>
              <a:ext uri="{FF2B5EF4-FFF2-40B4-BE49-F238E27FC236}">
                <a16:creationId xmlns:a16="http://schemas.microsoft.com/office/drawing/2014/main" id="{E0E42FC9-B5D7-4FD1-9074-6182B66A9F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2628" y1="56057" x2="32628" y2="56057"/>
                        <a14:foregroundMark x1="37308" y1="50831" x2="37308" y2="50831"/>
                        <a14:foregroundMark x1="37308" y1="45131" x2="37308" y2="45131"/>
                        <a14:foregroundMark x1="40000" y1="48456" x2="40000" y2="48456"/>
                        <a14:foregroundMark x1="42949" y1="46318" x2="42949" y2="46318"/>
                        <a14:foregroundMark x1="46346" y1="53207" x2="46346" y2="53207"/>
                        <a14:foregroundMark x1="49679" y1="49644" x2="49679" y2="49644"/>
                        <a14:foregroundMark x1="57115" y1="45843" x2="57115" y2="45843"/>
                        <a14:foregroundMark x1="60321" y1="49644" x2="60321" y2="49644"/>
                        <a14:foregroundMark x1="63974" y1="49169" x2="63974" y2="49169"/>
                        <a14:foregroundMark x1="67628" y1="48456" x2="67628" y2="48456"/>
                        <a14:foregroundMark x1="67628" y1="45131" x2="67628" y2="45131"/>
                        <a14:foregroundMark x1="69872" y1="50831" x2="69872" y2="50831"/>
                        <a14:foregroundMark x1="73462" y1="53207" x2="73462" y2="53207"/>
                        <a14:foregroundMark x1="77051" y1="49644" x2="77051" y2="496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525" t="26099" r="19875" b="31798"/>
          <a:stretch/>
        </p:blipFill>
        <p:spPr bwMode="auto">
          <a:xfrm>
            <a:off x="7256699" y="1437362"/>
            <a:ext cx="4807198" cy="845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21E536-9BCE-4A5E-9627-42F71B67A83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54783" y="263809"/>
            <a:ext cx="348812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3531838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208417"/>
            <a:ext cx="10207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700" b="1" dirty="0">
                <a:solidFill>
                  <a:srgbClr val="A30236"/>
                </a:solidFill>
              </a:rPr>
              <a:t>ИНСТРУМЕНТЫ ДЛЯ ПОСТРОЕНИЯ </a:t>
            </a:r>
            <a:r>
              <a:rPr lang="en-US" sz="2700" b="1" dirty="0">
                <a:solidFill>
                  <a:srgbClr val="A30236"/>
                </a:solidFill>
              </a:rPr>
              <a:t>CI</a:t>
            </a:r>
            <a:r>
              <a:rPr lang="ru-RU" sz="2700" b="1" dirty="0">
                <a:solidFill>
                  <a:srgbClr val="A30236"/>
                </a:solidFill>
              </a:rPr>
              <a:t>/</a:t>
            </a:r>
            <a:r>
              <a:rPr lang="en-US" sz="2700" b="1" dirty="0">
                <a:solidFill>
                  <a:srgbClr val="A30236"/>
                </a:solidFill>
              </a:rPr>
              <a:t>CD</a:t>
            </a:r>
            <a:r>
              <a:rPr lang="ru-RU" sz="2700" b="1" dirty="0">
                <a:solidFill>
                  <a:srgbClr val="A30236"/>
                </a:solidFill>
              </a:rPr>
              <a:t> ПАЙПЛАЙНОВ</a:t>
            </a: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569640"/>
            <a:ext cx="55868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 err="1"/>
              <a:t>ArgoCD</a:t>
            </a:r>
            <a:r>
              <a:rPr lang="ru-RU" b="1" dirty="0"/>
              <a:t>:</a:t>
            </a:r>
            <a:r>
              <a:rPr lang="ru-RU" dirty="0"/>
              <a:t> Этот инструмент выделяется из общего ряда, так как реализует другой подход к доставке — </a:t>
            </a:r>
            <a:r>
              <a:rPr lang="en-US" b="1" dirty="0" err="1"/>
              <a:t>GitOps</a:t>
            </a:r>
            <a:r>
              <a:rPr lang="ru-RU" dirty="0"/>
              <a:t>. Он предназначен для работы с </a:t>
            </a:r>
            <a:r>
              <a:rPr lang="en-US" dirty="0"/>
              <a:t>Kubernetes</a:t>
            </a:r>
            <a:r>
              <a:rPr lang="ru-RU" dirty="0"/>
              <a:t>. </a:t>
            </a:r>
            <a:r>
              <a:rPr lang="en-US" dirty="0" err="1"/>
              <a:t>ArgoCD</a:t>
            </a:r>
            <a:r>
              <a:rPr lang="ru-RU" dirty="0"/>
              <a:t> постоянно синхронизирует состояние кластера с декларативным описанием инфраструктуры и приложений, хранящимся в </a:t>
            </a:r>
            <a:r>
              <a:rPr lang="en-US" dirty="0"/>
              <a:t>Git</a:t>
            </a:r>
            <a:r>
              <a:rPr lang="ru-RU" dirty="0"/>
              <a:t>-репозитории. Если реальное состояние кластера расходится с тем, что описано в </a:t>
            </a:r>
            <a:r>
              <a:rPr lang="en-US" dirty="0"/>
              <a:t>Git</a:t>
            </a:r>
            <a:r>
              <a:rPr lang="ru-RU" dirty="0"/>
              <a:t>, </a:t>
            </a:r>
            <a:r>
              <a:rPr lang="en-US" dirty="0" err="1"/>
              <a:t>ArgoCD</a:t>
            </a:r>
            <a:r>
              <a:rPr lang="ru-RU" dirty="0"/>
              <a:t> автоматически исправляет это. Это обеспечивает максимальную надежность, </a:t>
            </a:r>
            <a:r>
              <a:rPr lang="ru-RU" dirty="0" err="1"/>
              <a:t>отслеживаемость</a:t>
            </a:r>
            <a:r>
              <a:rPr lang="ru-RU" dirty="0"/>
              <a:t> и простоту отката изменений (просто откатить </a:t>
            </a:r>
            <a:r>
              <a:rPr lang="ru-RU" dirty="0" err="1"/>
              <a:t>коммит</a:t>
            </a:r>
            <a:r>
              <a:rPr lang="ru-RU" dirty="0"/>
              <a:t> в </a:t>
            </a:r>
            <a:r>
              <a:rPr lang="en-US" dirty="0"/>
              <a:t>Git</a:t>
            </a:r>
            <a:r>
              <a:rPr lang="ru-RU" dirty="0"/>
              <a:t>).</a:t>
            </a:r>
          </a:p>
        </p:txBody>
      </p:sp>
      <p:pic>
        <p:nvPicPr>
          <p:cNvPr id="4098" name="Picture 2" descr="Picture background">
            <a:extLst>
              <a:ext uri="{FF2B5EF4-FFF2-40B4-BE49-F238E27FC236}">
                <a16:creationId xmlns:a16="http://schemas.microsoft.com/office/drawing/2014/main" id="{A9A73B87-FF60-4116-8F1A-A3E7B93AA3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2335" y="2308572"/>
            <a:ext cx="4781562" cy="221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DE6577D-3E97-4E02-8F01-001502297D4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54783" y="263809"/>
            <a:ext cx="348812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550186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52589"/>
            <a:ext cx="3166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1"/>
                </a:solidFill>
                <a:ea typeface="Arial Black" pitchFamily="34" charset="0"/>
              </a:rPr>
              <a:t>ЗАКЛЮЧЕНИЕ</a:t>
            </a:r>
            <a:endParaRPr lang="en-US" b="1" dirty="0">
              <a:solidFill>
                <a:schemeClr val="accent1"/>
              </a:solidFill>
              <a:ea typeface="Arial Black" pitchFamily="34" charset="0"/>
            </a:endParaRP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154142"/>
            <a:ext cx="591802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err="1"/>
              <a:t>DevOps</a:t>
            </a:r>
            <a:r>
              <a:rPr lang="ru-RU" dirty="0"/>
              <a:t> — это фундаментальная методология современной программной инженерии, позволяющая организациям радикально ускорить вывод продуктов на рынок, повысить их качество и стабильность.</a:t>
            </a:r>
          </a:p>
          <a:p>
            <a:endParaRPr lang="ru-RU" dirty="0"/>
          </a:p>
          <a:p>
            <a:r>
              <a:rPr lang="ru-RU" dirty="0"/>
              <a:t>Успех </a:t>
            </a:r>
            <a:r>
              <a:rPr lang="ru-RU" dirty="0" err="1"/>
              <a:t>DevOps</a:t>
            </a:r>
            <a:r>
              <a:rPr lang="ru-RU" dirty="0"/>
              <a:t> строится на культуре сотрудничества и автоматизации, центральным элементом которой является CI/CD </a:t>
            </a:r>
            <a:r>
              <a:rPr lang="ru-RU" dirty="0" err="1"/>
              <a:t>пайплайн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Выбор конкретных инструментов для его построения — от классического </a:t>
            </a:r>
            <a:r>
              <a:rPr lang="ru-RU" dirty="0" err="1"/>
              <a:t>Jenkins</a:t>
            </a:r>
            <a:r>
              <a:rPr lang="ru-RU" dirty="0"/>
              <a:t> до облачных </a:t>
            </a:r>
            <a:r>
              <a:rPr lang="ru-RU" dirty="0" err="1"/>
              <a:t>GitHub</a:t>
            </a:r>
            <a:r>
              <a:rPr lang="ru-RU" dirty="0"/>
              <a:t> </a:t>
            </a:r>
            <a:r>
              <a:rPr lang="ru-RU" dirty="0" err="1"/>
              <a:t>Actions</a:t>
            </a:r>
            <a:r>
              <a:rPr lang="ru-RU" dirty="0"/>
              <a:t> или специализированного </a:t>
            </a:r>
            <a:r>
              <a:rPr lang="ru-RU" dirty="0" err="1"/>
              <a:t>ArgoCD</a:t>
            </a:r>
            <a:r>
              <a:rPr lang="ru-RU" dirty="0"/>
              <a:t> — зависит от конкретных задач и контекста проекта.</a:t>
            </a:r>
          </a:p>
          <a:p>
            <a:endParaRPr lang="ru-RU" dirty="0"/>
          </a:p>
          <a:p>
            <a:r>
              <a:rPr lang="ru-RU" dirty="0"/>
              <a:t>Внедрение </a:t>
            </a:r>
            <a:r>
              <a:rPr lang="ru-RU" dirty="0" err="1"/>
              <a:t>DevOps</a:t>
            </a:r>
            <a:r>
              <a:rPr lang="ru-RU" dirty="0"/>
              <a:t>-практик — это не разовый проект, а непрерывный путь улучшений, который в итоге приводит к созданию большей ценности для бизнеса и пользователей.</a:t>
            </a:r>
          </a:p>
        </p:txBody>
      </p:sp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8ABA476E-45BD-4015-8A9B-18D40FA16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8124" y="1986049"/>
            <a:ext cx="5255773" cy="2860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1816A8-2A88-497B-A11D-57AD3ED7DD4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54783" y="263809"/>
            <a:ext cx="348812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02567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3" y="152589"/>
            <a:ext cx="60925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1"/>
                </a:solidFill>
                <a:ea typeface="Arial Black" pitchFamily="34" charset="0"/>
              </a:rPr>
              <a:t>ВОПРОСЫ ДЛЯ АУДИТОРИИ</a:t>
            </a:r>
            <a:endParaRPr lang="en-US" b="1" dirty="0">
              <a:solidFill>
                <a:schemeClr val="accent1"/>
              </a:solidFill>
              <a:ea typeface="Arial Black" pitchFamily="34" charset="0"/>
            </a:endParaRP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084893"/>
            <a:ext cx="10016196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Что такое модель </a:t>
            </a:r>
            <a:r>
              <a:rPr lang="ru-RU" b="1" dirty="0"/>
              <a:t>CALMS</a:t>
            </a:r>
            <a:r>
              <a:rPr lang="ru-RU" dirty="0"/>
              <a:t>? Расшифруйте все пять букв и кратко объясните, что означает каждый принцип.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Назовите четыре метрики </a:t>
            </a:r>
            <a:r>
              <a:rPr lang="ru-RU" b="1" dirty="0"/>
              <a:t>DORA</a:t>
            </a:r>
            <a:r>
              <a:rPr lang="ru-RU" dirty="0"/>
              <a:t>, которые используются в </a:t>
            </a:r>
            <a:r>
              <a:rPr lang="ru-RU" dirty="0" err="1"/>
              <a:t>DevOps</a:t>
            </a:r>
            <a:r>
              <a:rPr lang="ru-RU" dirty="0"/>
              <a:t> для оценки производительности команд. Что именно измеряет каждая из них?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 чём главное отличие между </a:t>
            </a:r>
            <a:r>
              <a:rPr lang="ru-RU" b="1" dirty="0" err="1"/>
              <a:t>Continuous</a:t>
            </a:r>
            <a:r>
              <a:rPr lang="ru-RU" b="1" dirty="0"/>
              <a:t> </a:t>
            </a:r>
            <a:r>
              <a:rPr lang="ru-RU" b="1" dirty="0" err="1"/>
              <a:t>Integration</a:t>
            </a:r>
            <a:r>
              <a:rPr lang="ru-RU" b="1" dirty="0"/>
              <a:t> (CI)</a:t>
            </a:r>
            <a:r>
              <a:rPr lang="ru-RU" dirty="0"/>
              <a:t> и </a:t>
            </a:r>
            <a:r>
              <a:rPr lang="ru-RU" b="1" dirty="0" err="1"/>
              <a:t>Continuous</a:t>
            </a:r>
            <a:r>
              <a:rPr lang="ru-RU" b="1" dirty="0"/>
              <a:t> </a:t>
            </a:r>
            <a:r>
              <a:rPr lang="ru-RU" b="1" dirty="0" err="1"/>
              <a:t>Delivery</a:t>
            </a:r>
            <a:r>
              <a:rPr lang="ru-RU" b="1" dirty="0"/>
              <a:t> (CD)</a:t>
            </a:r>
            <a:r>
              <a:rPr lang="ru-RU" dirty="0"/>
              <a:t>? Почему нельзя говорить, что это одно и то же?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Какой из перечисленных в докладе инструментов реализует подход </a:t>
            </a:r>
            <a:r>
              <a:rPr lang="ru-RU" b="1" dirty="0" err="1"/>
              <a:t>GitOps</a:t>
            </a:r>
            <a:r>
              <a:rPr lang="ru-RU" dirty="0"/>
              <a:t>? Для каких сред он предназначен в первую очередь и в чём его ключевое преимущество перед классическими CI/CD-инструментами?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Почему </a:t>
            </a:r>
            <a:r>
              <a:rPr lang="ru-RU" dirty="0" err="1"/>
              <a:t>DevOps</a:t>
            </a:r>
            <a:r>
              <a:rPr lang="ru-RU" dirty="0"/>
              <a:t> </a:t>
            </a:r>
            <a:r>
              <a:rPr lang="ru-RU" dirty="0" smtClean="0"/>
              <a:t>– </a:t>
            </a:r>
            <a:r>
              <a:rPr lang="ru-RU" dirty="0"/>
              <a:t>это прежде всего культурная философия, а не просто набор инструментов?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1816A8-2A88-497B-A11D-57AD3ED7DD4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54783" y="263809"/>
            <a:ext cx="348812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052821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7107" y="6408741"/>
            <a:ext cx="593402" cy="2882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Текст. поле 2"/>
          <p:cNvSpPr txBox="1"/>
          <p:nvPr/>
        </p:nvSpPr>
        <p:spPr>
          <a:xfrm>
            <a:off x="890102" y="152589"/>
            <a:ext cx="9268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solidFill>
                  <a:schemeClr val="accent1"/>
                </a:solidFill>
                <a:ea typeface="Arial Black" pitchFamily="34" charset="0"/>
              </a:rPr>
              <a:t>СПИСОК ИСПОЛЬЗОВАННЫХ ИСТОЧНИКОВ</a:t>
            </a:r>
            <a:endParaRPr lang="en-US" b="1" dirty="0">
              <a:solidFill>
                <a:schemeClr val="accent1"/>
              </a:solidFill>
              <a:ea typeface="Arial Black" pitchFamily="34" charset="0"/>
            </a:endParaRPr>
          </a:p>
        </p:txBody>
      </p:sp>
      <p:sp>
        <p:nvSpPr>
          <p:cNvPr id="5" name="Текст. поле 4"/>
          <p:cNvSpPr txBox="1"/>
          <p:nvPr/>
        </p:nvSpPr>
        <p:spPr>
          <a:xfrm>
            <a:off x="890103" y="1292642"/>
            <a:ext cx="111633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/>
              </a:rPr>
              <a:t>https://it.vstu.by/courses/economics_of_electronic_business/web_technologies_and_programming/theory/DevOps/#введение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4"/>
              </a:rPr>
              <a:t>https://vkcloud.kz/blog/chto-takoe-metodologiya-devops/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5"/>
              </a:rPr>
              <a:t>https://ones.com.cn/knowledge/devops-principles-methods-practices-10-steps-boost-team-efficiency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6"/>
              </a:rPr>
              <a:t>https://elma365.com/ru/baza-znaniy/dev-ops/#processes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7"/>
              </a:rPr>
              <a:t>https://cyberleninka.ru/article/n/avtomatizatsiya-i-optimizatsiya-protsessov-razrabotki-i-razvertyvaniya-v-devops-primenenie-sovremennyh-metodov-i-instrumentov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8"/>
              </a:rPr>
              <a:t>https://habr.com/ru/companies/otus/articles/903352/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9"/>
              </a:rPr>
              <a:t>https://checkmarx.com/learn/appsec/devops-metrics-2025-the-complete-guide-to-successfully-measuring-dev-operations/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10"/>
              </a:rPr>
              <a:t>https://journal.sweb.ru/article/cicd-klyuch-k-bystroy-i-stabilnoy-razrabotke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11"/>
              </a:rPr>
              <a:t>https://translated.turbopages.org/proxy_u/en-ru.ru.2bd8c0d6-699e2fb8-578ad8b1-74722d776562/https/www.tutorialspoint.com/devops/devops-lean-principles.htm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12"/>
              </a:rPr>
              <a:t>https://habr.com/ru/companies/ruvds/articles/715536/</a:t>
            </a:r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  <a:hlinkClick r:id="rId13"/>
              </a:rPr>
              <a:t>https://www.cncf.co.kr/blog/ci-cd-tools-comparison/#toc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BFD411-0BBF-48C3-8DD0-B53385CA55B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554783" y="263809"/>
            <a:ext cx="348812" cy="369332"/>
          </a:xfrm>
        </p:spPr>
        <p:txBody>
          <a:bodyPr/>
          <a:lstStyle/>
          <a:p>
            <a:fld id="{86CB4B4D-7CA3-9044-876B-883B54F8677D}" type="slidenum">
              <a:rPr lang="ru-RU" sz="1800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225005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itle 1"/>
          <p:cNvSpPr>
            <a:spLocks noGrp="1" noEditPoints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СПАСИБО ЗА ВНИМАНИЕ!</a:t>
            </a:r>
          </a:p>
        </p:txBody>
      </p:sp>
      <p:sp>
        <p:nvSpPr>
          <p:cNvPr id="237" name="TextBox 5"/>
          <p:cNvSpPr txBox="1"/>
          <p:nvPr/>
        </p:nvSpPr>
        <p:spPr>
          <a:xfrm>
            <a:off x="913800" y="6125934"/>
            <a:ext cx="2146926" cy="21544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r>
              <a:rPr dirty="0" err="1"/>
              <a:t>Нижний</a:t>
            </a:r>
            <a:r>
              <a:rPr dirty="0"/>
              <a:t> </a:t>
            </a:r>
            <a:r>
              <a:rPr dirty="0" err="1"/>
              <a:t>Новгород</a:t>
            </a:r>
            <a:r>
              <a:rPr dirty="0"/>
              <a:t>, 202</a:t>
            </a:r>
            <a:r>
              <a:rPr lang="ru-RU" dirty="0"/>
              <a:t>6</a:t>
            </a:r>
          </a:p>
        </p:txBody>
      </p:sp>
      <p:sp>
        <p:nvSpPr>
          <p:cNvPr id="238" name="Прямоугольник 237"/>
          <p:cNvSpPr/>
          <p:nvPr/>
        </p:nvSpPr>
        <p:spPr>
          <a:xfrm>
            <a:off x="11927380" y="703605"/>
            <a:ext cx="364519" cy="5934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Тема Office">
  <a:themeElements>
    <a:clrScheme name="Другая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00"/>
      </a:hlink>
      <a:folHlink>
        <a:srgbClr val="A30236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Тема Office">
      <a:majorFont>
        <a:latin typeface="Calibri"/>
        <a:ea typeface="Calibri"/>
        <a:cs typeface="Calibri"/>
      </a:majorFont>
      <a:minorFont>
        <a:latin typeface="Times New Roman"/>
        <a:ea typeface="Times New Roman"/>
        <a:cs typeface="Times New Roma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407</TotalTime>
  <Words>1711</Words>
  <Application>Microsoft Office PowerPoint</Application>
  <PresentationFormat>Произвольный</PresentationFormat>
  <Paragraphs>142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3" baseType="lpstr">
      <vt:lpstr>Arial</vt:lpstr>
      <vt:lpstr>Arial Black</vt:lpstr>
      <vt:lpstr>Calibri</vt:lpstr>
      <vt:lpstr>Helvetica Neue</vt:lpstr>
      <vt:lpstr>Times New Roman</vt:lpstr>
      <vt:lpstr>Тема Office</vt:lpstr>
      <vt:lpstr>DevOps: интеграция разработки и эксплуатации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Cluser</cp:lastModifiedBy>
  <cp:revision>17</cp:revision>
  <dcterms:modified xsi:type="dcterms:W3CDTF">2026-03-05T15:24:54Z</dcterms:modified>
</cp:coreProperties>
</file>